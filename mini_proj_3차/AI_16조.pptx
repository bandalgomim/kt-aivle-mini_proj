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Nanum Gothic" panose="020B0600000101010101" charset="-127"/>
      <p:regular r:id="rId11"/>
    </p:embeddedFont>
    <p:embeddedFont>
      <p:font typeface="Nanum Gothic Bold" panose="020B0600000101010101" charset="-127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저희가 오늘 제작한 모델은 화장품 리뷰 분석 커스터마이징 에이전트입니다.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저희의 에이전트는 커스터마이징과 확장성이 장점입니다.</a:t>
            </a:r>
          </a:p>
          <a:p>
            <a:endParaRPr lang="en-US"/>
          </a:p>
          <a:p>
            <a:r>
              <a:rPr lang="en-US"/>
              <a:t>고객사별로 원하는 분석 방식이 다르기 때문에 </a:t>
            </a:r>
          </a:p>
          <a:p>
            <a:r>
              <a:rPr lang="en-US"/>
              <a:t>요소를 확장하고 기능을 추가하기 쉽도록 만들었습니다</a:t>
            </a:r>
          </a:p>
          <a:p>
            <a:endParaRPr lang="en-US"/>
          </a:p>
          <a:p>
            <a:r>
              <a:rPr lang="en-US"/>
              <a:t>그를 위해 중점적으로 설계한 요소는 크리틱입니다.</a:t>
            </a:r>
          </a:p>
          <a:p>
            <a:r>
              <a:rPr lang="en-US"/>
              <a:t>모든 노드에서 출력되는 값을 통일시켜 </a:t>
            </a:r>
          </a:p>
          <a:p>
            <a:r>
              <a:rPr lang="en-US"/>
              <a:t>크리틱이 어떤 노드가 오든지 평가할 수 있도록 설계 하였습니다.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각 노드 의 결과물값으로 '리절트', </a:t>
            </a:r>
          </a:p>
          <a:p>
            <a:r>
              <a:rPr lang="en-US"/>
              <a:t>그에 대한 원문 출처인 '에비던스' </a:t>
            </a:r>
          </a:p>
          <a:p>
            <a:r>
              <a:rPr lang="en-US"/>
              <a:t>그리고 llm이 그렇게 판단한 '리즌'으로 이 3가지 값만 가지고 크리틱에서 평가가 가능하도록 만들었습니다.</a:t>
            </a:r>
          </a:p>
          <a:p>
            <a:r>
              <a:rPr lang="en-US"/>
              <a:t>크리틱은 에비던스와 리즌을 비교평가하는 기능만을 수행합니다.</a:t>
            </a:r>
          </a:p>
          <a:p>
            <a:endParaRPr lang="en-US"/>
          </a:p>
          <a:p>
            <a:r>
              <a:rPr lang="en-US"/>
              <a:t>따라서  새로운 노드를 추가하였을때 크리틱에 평가 프롬프트를 추가하지 않아도 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확장성을 보여드리기 위해 예시로 추가한 카테고라이즈 노드와 리펄처스 노드를 설명드리겠습니다</a:t>
            </a:r>
          </a:p>
          <a:p>
            <a:r>
              <a:rPr lang="en-US"/>
              <a:t>  </a:t>
            </a:r>
          </a:p>
          <a:p>
            <a:r>
              <a:rPr lang="en-US"/>
              <a:t>먼저</a:t>
            </a:r>
          </a:p>
          <a:p>
            <a:r>
              <a:rPr lang="en-US"/>
              <a:t>리뷰 데이터를 보았을때 제품별로 분류되지 않은 것을 확인하였습니다.</a:t>
            </a:r>
          </a:p>
          <a:p>
            <a:r>
              <a:rPr lang="en-US"/>
              <a:t>고객사는 제품군별로 장단점을 분석하고 보완해야 하는데 데이터가 나눠져 있지 않아 분석이 어렵습니다</a:t>
            </a:r>
          </a:p>
          <a:p>
            <a:r>
              <a:rPr lang="en-US"/>
              <a:t>그래서 어떤 제품에 대한 리뷰인지 분류하는 기능을  위해 카테고라이즈 노드 추가하였습니다 </a:t>
            </a:r>
          </a:p>
          <a:p>
            <a:endParaRPr lang="en-US"/>
          </a:p>
          <a:p>
            <a:r>
              <a:rPr lang="en-US"/>
              <a:t>스킨케어, 메이크업, 프래그런스 등으로 제품군을 분류하고 평가 근거와 이유를 출력하는 노드입니다.</a:t>
            </a:r>
          </a:p>
          <a:p>
            <a:endParaRPr lang="en-US"/>
          </a:p>
          <a:p>
            <a:r>
              <a:rPr lang="en-US"/>
              <a:t>또한, 회사 입장에서 유저의 재구매율 혹은 재구매 의사를 중요하게 생각하기 때문에 그런 고객을 분류하는 기능인  리펄처스 노드를 구현하였습니다. 보시다시피 출력구조가 카테고라이즈 노드와 비슷하다는 것을 확인할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해당노드들을 스트림릿에서 구현하였습니다.</a:t>
            </a:r>
          </a:p>
          <a:p>
            <a:endParaRPr lang="en-US"/>
          </a:p>
          <a:p>
            <a:r>
              <a:rPr lang="en-US"/>
              <a:t>위를 보시면 제품종류 별 만족도를 확인하고 </a:t>
            </a:r>
          </a:p>
          <a:p>
            <a:r>
              <a:rPr lang="en-US"/>
              <a:t>각 속성의 긍/부정 요인을 그래프로 보실수 있습니다</a:t>
            </a:r>
          </a:p>
          <a:p>
            <a:endParaRPr lang="en-US"/>
          </a:p>
          <a:p>
            <a:r>
              <a:rPr lang="en-US"/>
              <a:t>오른쪽을 보시면 </a:t>
            </a:r>
          </a:p>
          <a:p>
            <a:r>
              <a:rPr lang="en-US"/>
              <a:t>주요 속성별 만족도와</a:t>
            </a:r>
          </a:p>
          <a:p>
            <a:r>
              <a:rPr lang="en-US"/>
              <a:t>재구매 의사 고객을 타깃으로한 재구매 성공요인을 시각화 하여 제공합니다.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향후 개선 방향</a:t>
            </a:r>
          </a:p>
          <a:p>
            <a:endParaRPr lang="en-US"/>
          </a:p>
          <a:p>
            <a:r>
              <a:rPr lang="en-US"/>
              <a:t>개선사항을 llm으로 분석해주는 기능추가</a:t>
            </a:r>
          </a:p>
          <a:p>
            <a:endParaRPr lang="en-US"/>
          </a:p>
          <a:p>
            <a:r>
              <a:rPr lang="en-US"/>
              <a:t>리뷰 분석 속도 최적화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계정 정보를 통한 DB 데이터 추가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재구매 고객의 성향에 맞는 추천 제품 브랜드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감사합니다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615540" y="1028700"/>
            <a:ext cx="7643760" cy="8382465"/>
          </a:xfrm>
          <a:custGeom>
            <a:avLst/>
            <a:gdLst/>
            <a:ahLst/>
            <a:cxnLst/>
            <a:rect l="l" t="t" r="r" b="b"/>
            <a:pathLst>
              <a:path w="7643760" h="8382465">
                <a:moveTo>
                  <a:pt x="7643760" y="0"/>
                </a:moveTo>
                <a:lnTo>
                  <a:pt x="0" y="0"/>
                </a:lnTo>
                <a:lnTo>
                  <a:pt x="0" y="8382465"/>
                </a:lnTo>
                <a:lnTo>
                  <a:pt x="7643760" y="8382465"/>
                </a:lnTo>
                <a:lnTo>
                  <a:pt x="764376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18703" y="2233610"/>
            <a:ext cx="9253130" cy="388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8"/>
              </a:lnSpc>
            </a:pPr>
            <a:endParaRPr/>
          </a:p>
          <a:p>
            <a:pPr algn="r">
              <a:lnSpc>
                <a:spcPts val="10048"/>
              </a:lnSpc>
            </a:pPr>
            <a:r>
              <a:rPr lang="en-US" sz="10577" b="1">
                <a:solidFill>
                  <a:srgbClr val="343434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화장품 리뷰분석</a:t>
            </a:r>
          </a:p>
          <a:p>
            <a:pPr algn="r">
              <a:lnSpc>
                <a:spcPts val="10048"/>
              </a:lnSpc>
            </a:pPr>
            <a:endParaRPr lang="en-US" sz="10577" b="1">
              <a:solidFill>
                <a:srgbClr val="343434"/>
              </a:solidFill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18703" y="8395335"/>
            <a:ext cx="4193851" cy="8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343434"/>
                </a:solidFill>
                <a:latin typeface="Nanum Gothic"/>
                <a:ea typeface="Nanum Gothic"/>
                <a:cs typeface="Nanum Gothic"/>
                <a:sym typeface="Nanum Gothic"/>
              </a:rPr>
              <a:t>수도권 6반 16조</a:t>
            </a: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343434"/>
                </a:solidFill>
                <a:latin typeface="Nanum Gothic"/>
                <a:ea typeface="Nanum Gothic"/>
                <a:cs typeface="Nanum Gothic"/>
                <a:sym typeface="Nanum Gothic"/>
              </a:rPr>
              <a:t>김성준 류지후 공다연 강민수</a:t>
            </a: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343434"/>
                </a:solidFill>
                <a:latin typeface="Nanum Gothic"/>
                <a:ea typeface="Nanum Gothic"/>
                <a:cs typeface="Nanum Gothic"/>
                <a:sym typeface="Nanum Gothic"/>
              </a:rPr>
              <a:t>김현석 성현석 김현민 서영욱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30875"/>
            <a:ext cx="9543134" cy="5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16"/>
              </a:lnSpc>
            </a:pPr>
            <a:r>
              <a:rPr lang="en-US" sz="4049">
                <a:solidFill>
                  <a:srgbClr val="343434"/>
                </a:solidFill>
                <a:latin typeface="Nanum Gothic"/>
                <a:ea typeface="Nanum Gothic"/>
                <a:cs typeface="Nanum Gothic"/>
                <a:sym typeface="Nanum Gothic"/>
              </a:rPr>
              <a:t>Customerizing Anget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3" name="TextBox 3"/>
          <p:cNvSpPr txBox="1"/>
          <p:nvPr/>
        </p:nvSpPr>
        <p:spPr>
          <a:xfrm>
            <a:off x="1439574" y="1251500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Agent 기능 요약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63679"/>
            <a:ext cx="12626035" cy="56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4"/>
              </a:lnSpc>
            </a:pPr>
            <a:r>
              <a:rPr lang="en-US" sz="3245" b="1">
                <a:solidFill>
                  <a:srgbClr val="332F48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확장성을 위해 노드 추가가 용이한 구조로 설계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937894"/>
            <a:ext cx="12626035" cy="56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4"/>
              </a:lnSpc>
            </a:pPr>
            <a:r>
              <a:rPr lang="en-US" sz="3245" b="1">
                <a:solidFill>
                  <a:srgbClr val="332F48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제품에 대한 리뷰를 분류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412108"/>
            <a:ext cx="12626035" cy="56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4"/>
              </a:lnSpc>
            </a:pPr>
            <a:r>
              <a:rPr lang="en-US" sz="3245" b="1">
                <a:solidFill>
                  <a:srgbClr val="332F48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제품별 만족도 확인 및 재구매 의사 고객 확인</a:t>
            </a:r>
          </a:p>
        </p:txBody>
      </p:sp>
      <p:sp>
        <p:nvSpPr>
          <p:cNvPr id="7" name="Freeform 7"/>
          <p:cNvSpPr/>
          <p:nvPr/>
        </p:nvSpPr>
        <p:spPr>
          <a:xfrm>
            <a:off x="11078870" y="1908090"/>
            <a:ext cx="7209130" cy="8229600"/>
          </a:xfrm>
          <a:custGeom>
            <a:avLst/>
            <a:gdLst/>
            <a:ahLst/>
            <a:cxnLst/>
            <a:rect l="l" t="t" r="r" b="b"/>
            <a:pathLst>
              <a:path w="7209130" h="8229600">
                <a:moveTo>
                  <a:pt x="0" y="0"/>
                </a:moveTo>
                <a:lnTo>
                  <a:pt x="7209130" y="0"/>
                </a:lnTo>
                <a:lnTo>
                  <a:pt x="72091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575" y="0"/>
            <a:ext cx="182880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3" name="Freeform 3"/>
          <p:cNvSpPr/>
          <p:nvPr/>
        </p:nvSpPr>
        <p:spPr>
          <a:xfrm rot="-3369709">
            <a:off x="12453362" y="-325161"/>
            <a:ext cx="9264592" cy="9326655"/>
          </a:xfrm>
          <a:custGeom>
            <a:avLst/>
            <a:gdLst/>
            <a:ahLst/>
            <a:cxnLst/>
            <a:rect l="l" t="t" r="r" b="b"/>
            <a:pathLst>
              <a:path w="9264592" h="9326655">
                <a:moveTo>
                  <a:pt x="0" y="0"/>
                </a:moveTo>
                <a:lnTo>
                  <a:pt x="9264592" y="0"/>
                </a:lnTo>
                <a:lnTo>
                  <a:pt x="9264592" y="9326656"/>
                </a:lnTo>
                <a:lnTo>
                  <a:pt x="0" y="932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b="-2942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39574" y="1251500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critic_node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39574" y="4237284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노드 출력 구조 통일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9574" y="5359964"/>
            <a:ext cx="17568990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endParaRPr/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'node_result':  ‘스킨케어’,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'node_evidence': '보습이 좋다.',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'node_reason': '보습에 대한 평가가 있으므로 스킨케어 제품으로 추정됨'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39574" y="2593255"/>
            <a:ext cx="12319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모든 노드값 출력을 단일 critic_node로 처리 가능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7914384"/>
            <a:ext cx="18882844" cy="57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Critic_node는 evidence와 reason을 비교처리하는 기능만을 수행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3" name="TextBox 3"/>
          <p:cNvSpPr txBox="1"/>
          <p:nvPr/>
        </p:nvSpPr>
        <p:spPr>
          <a:xfrm>
            <a:off x="1049657" y="1251500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categorize_node</a:t>
            </a:r>
          </a:p>
        </p:txBody>
      </p:sp>
      <p:sp>
        <p:nvSpPr>
          <p:cNvPr id="4" name="Freeform 4"/>
          <p:cNvSpPr/>
          <p:nvPr/>
        </p:nvSpPr>
        <p:spPr>
          <a:xfrm rot="-3369709">
            <a:off x="12453362" y="-325161"/>
            <a:ext cx="9264592" cy="9326655"/>
          </a:xfrm>
          <a:custGeom>
            <a:avLst/>
            <a:gdLst/>
            <a:ahLst/>
            <a:cxnLst/>
            <a:rect l="l" t="t" r="r" b="b"/>
            <a:pathLst>
              <a:path w="9264592" h="9326655">
                <a:moveTo>
                  <a:pt x="0" y="0"/>
                </a:moveTo>
                <a:lnTo>
                  <a:pt x="9264592" y="0"/>
                </a:lnTo>
                <a:lnTo>
                  <a:pt x="9264592" y="9326656"/>
                </a:lnTo>
                <a:lnTo>
                  <a:pt x="0" y="932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b="-2942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9967" y="3061335"/>
            <a:ext cx="17568990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endParaRPr/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   'categorize':  ‘스킨케어’,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   'categorize_evidence': '보습이 좋다.',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   'categorize_reason': '보습에 대한 평가가 있으므로 스킨케어 제품으로 추정됨'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9657" y="2612305"/>
            <a:ext cx="12319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리뷰를 분석해 제품군을 분류하고 분류 이유를 기술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9657" y="5267325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repurchase_node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9657" y="6937440"/>
            <a:ext cx="1756899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endParaRPr/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'repurchase': 1,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'repurchase_evidence': '재구매 하고싶다.',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'repurchase_reason': '재구매 의사가 명확히 표현되어 있어 재구매 고객으로 판단됨'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9657" y="6495213"/>
            <a:ext cx="12319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리뷰를 분석해 재구매 의향을 판단하고 판단이유를 기술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3" name="Freeform 3"/>
          <p:cNvSpPr/>
          <p:nvPr/>
        </p:nvSpPr>
        <p:spPr>
          <a:xfrm>
            <a:off x="9792238" y="3404988"/>
            <a:ext cx="5617962" cy="6356958"/>
          </a:xfrm>
          <a:custGeom>
            <a:avLst/>
            <a:gdLst/>
            <a:ahLst/>
            <a:cxnLst/>
            <a:rect l="l" t="t" r="r" b="b"/>
            <a:pathLst>
              <a:path w="5617962" h="6356958">
                <a:moveTo>
                  <a:pt x="0" y="0"/>
                </a:moveTo>
                <a:lnTo>
                  <a:pt x="5617962" y="0"/>
                </a:lnTo>
                <a:lnTo>
                  <a:pt x="561796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62868" y="4103618"/>
            <a:ext cx="5452421" cy="5658328"/>
          </a:xfrm>
          <a:custGeom>
            <a:avLst/>
            <a:gdLst/>
            <a:ahLst/>
            <a:cxnLst/>
            <a:rect l="l" t="t" r="r" b="b"/>
            <a:pathLst>
              <a:path w="5452421" h="5658328">
                <a:moveTo>
                  <a:pt x="0" y="0"/>
                </a:moveTo>
                <a:lnTo>
                  <a:pt x="5452421" y="0"/>
                </a:lnTo>
                <a:lnTo>
                  <a:pt x="5452421" y="5658329"/>
                </a:lnTo>
                <a:lnTo>
                  <a:pt x="0" y="5658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22082"/>
            <a:ext cx="7720758" cy="2959624"/>
          </a:xfrm>
          <a:custGeom>
            <a:avLst/>
            <a:gdLst/>
            <a:ahLst/>
            <a:cxnLst/>
            <a:rect l="l" t="t" r="r" b="b"/>
            <a:pathLst>
              <a:path w="7720758" h="2959624">
                <a:moveTo>
                  <a:pt x="0" y="0"/>
                </a:moveTo>
                <a:lnTo>
                  <a:pt x="7720758" y="0"/>
                </a:lnTo>
                <a:lnTo>
                  <a:pt x="7720758" y="2959624"/>
                </a:lnTo>
                <a:lnTo>
                  <a:pt x="0" y="2959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152794" y="885825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29488" y="-412215"/>
            <a:ext cx="8911047" cy="11744379"/>
          </a:xfrm>
          <a:custGeom>
            <a:avLst/>
            <a:gdLst/>
            <a:ahLst/>
            <a:cxnLst/>
            <a:rect l="l" t="t" r="r" b="b"/>
            <a:pathLst>
              <a:path w="8911047" h="11744379">
                <a:moveTo>
                  <a:pt x="0" y="0"/>
                </a:moveTo>
                <a:lnTo>
                  <a:pt x="8911047" y="0"/>
                </a:lnTo>
                <a:lnTo>
                  <a:pt x="8911047" y="11744378"/>
                </a:lnTo>
                <a:lnTo>
                  <a:pt x="0" y="1174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21307" y="1251500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21307" y="2458996"/>
            <a:ext cx="12319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향후 개선방향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21307" y="3245306"/>
            <a:ext cx="17568990" cy="375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endParaRPr/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제품군별 개선사항을 LLM으로 분석해주는 기능추가, 리뷰 분석 속도 최적화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도메인과 연동하여 계정정보를 제공 받아 DB를 재구성 후 분석도구로 사용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2E2E2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주어진 1차 자료와 본 에이전트를 통해 가공한 2차 자료를 활용하여 새로운 서비스 제공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 ex) 재구매 고객의 성향에 맞는 추천 제품을 사은품으로 증정해 브랜드 충성도 증대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E2E2E"/>
                </a:solidFill>
                <a:latin typeface="Nanum Gothic"/>
                <a:ea typeface="Nanum Gothic"/>
                <a:cs typeface="Nanum Gothic"/>
                <a:sym typeface="Nanum Gothic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29488" y="-412215"/>
            <a:ext cx="8911047" cy="11744379"/>
          </a:xfrm>
          <a:custGeom>
            <a:avLst/>
            <a:gdLst/>
            <a:ahLst/>
            <a:cxnLst/>
            <a:rect l="l" t="t" r="r" b="b"/>
            <a:pathLst>
              <a:path w="8911047" h="11744379">
                <a:moveTo>
                  <a:pt x="0" y="0"/>
                </a:moveTo>
                <a:lnTo>
                  <a:pt x="8911047" y="0"/>
                </a:lnTo>
                <a:lnTo>
                  <a:pt x="8911047" y="11744378"/>
                </a:lnTo>
                <a:lnTo>
                  <a:pt x="0" y="1174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21307" y="2421805"/>
            <a:ext cx="7445182" cy="3038169"/>
          </a:xfrm>
          <a:custGeom>
            <a:avLst/>
            <a:gdLst/>
            <a:ahLst/>
            <a:cxnLst/>
            <a:rect l="l" t="t" r="r" b="b"/>
            <a:pathLst>
              <a:path w="7445182" h="3038169">
                <a:moveTo>
                  <a:pt x="0" y="0"/>
                </a:moveTo>
                <a:lnTo>
                  <a:pt x="7445183" y="0"/>
                </a:lnTo>
                <a:lnTo>
                  <a:pt x="7445183" y="3038169"/>
                </a:lnTo>
                <a:lnTo>
                  <a:pt x="0" y="3038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21307" y="5668399"/>
            <a:ext cx="7445182" cy="3173188"/>
          </a:xfrm>
          <a:custGeom>
            <a:avLst/>
            <a:gdLst/>
            <a:ahLst/>
            <a:cxnLst/>
            <a:rect l="l" t="t" r="r" b="b"/>
            <a:pathLst>
              <a:path w="7445182" h="3173188">
                <a:moveTo>
                  <a:pt x="0" y="0"/>
                </a:moveTo>
                <a:lnTo>
                  <a:pt x="7445183" y="0"/>
                </a:lnTo>
                <a:lnTo>
                  <a:pt x="7445183" y="3173188"/>
                </a:lnTo>
                <a:lnTo>
                  <a:pt x="0" y="3173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02829" y="2421805"/>
            <a:ext cx="6772847" cy="4165301"/>
          </a:xfrm>
          <a:custGeom>
            <a:avLst/>
            <a:gdLst/>
            <a:ahLst/>
            <a:cxnLst/>
            <a:rect l="l" t="t" r="r" b="b"/>
            <a:pathLst>
              <a:path w="6772847" h="4165301">
                <a:moveTo>
                  <a:pt x="0" y="0"/>
                </a:moveTo>
                <a:lnTo>
                  <a:pt x="6772847" y="0"/>
                </a:lnTo>
                <a:lnTo>
                  <a:pt x="6772847" y="4165301"/>
                </a:lnTo>
                <a:lnTo>
                  <a:pt x="0" y="4165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21307" y="1251500"/>
            <a:ext cx="849576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2E2E2E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Referece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59669">
            <a:off x="-254603" y="3609511"/>
            <a:ext cx="2566607" cy="8229600"/>
          </a:xfrm>
          <a:custGeom>
            <a:avLst/>
            <a:gdLst/>
            <a:ahLst/>
            <a:cxnLst/>
            <a:rect l="l" t="t" r="r" b="b"/>
            <a:pathLst>
              <a:path w="2566607" h="8229600">
                <a:moveTo>
                  <a:pt x="0" y="0"/>
                </a:moveTo>
                <a:lnTo>
                  <a:pt x="2566606" y="0"/>
                </a:lnTo>
                <a:lnTo>
                  <a:pt x="25666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59669" flipH="1" flipV="1">
            <a:off x="15976644" y="-2206866"/>
            <a:ext cx="2566607" cy="8229600"/>
          </a:xfrm>
          <a:custGeom>
            <a:avLst/>
            <a:gdLst/>
            <a:ahLst/>
            <a:cxnLst/>
            <a:rect l="l" t="t" r="r" b="b"/>
            <a:pathLst>
              <a:path w="2566607" h="8229600">
                <a:moveTo>
                  <a:pt x="2566606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2566606" y="0"/>
                </a:lnTo>
                <a:lnTo>
                  <a:pt x="2566606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15305" y="3995964"/>
            <a:ext cx="13057391" cy="210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81"/>
              </a:lnSpc>
            </a:pPr>
            <a:r>
              <a:rPr lang="en-US" sz="15781" b="1">
                <a:solidFill>
                  <a:srgbClr val="343434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사용자 지정</PresentationFormat>
  <Paragraphs>104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Nanum Gothic Bold</vt:lpstr>
      <vt:lpstr>Arial</vt:lpstr>
      <vt:lpstr>Nanum Gothic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상품리뷰분석 Agent</dc:title>
  <dc:creator>User</dc:creator>
  <cp:lastModifiedBy>민수 강</cp:lastModifiedBy>
  <cp:revision>2</cp:revision>
  <dcterms:created xsi:type="dcterms:W3CDTF">2006-08-16T00:00:00Z</dcterms:created>
  <dcterms:modified xsi:type="dcterms:W3CDTF">2026-05-13T07:06:05Z</dcterms:modified>
  <dc:identifier>DAHJgTKW-zQ</dc:identifier>
</cp:coreProperties>
</file>