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24384000" cy="13716000"/>
  <p:notesSz cx="6858000" cy="9144000"/>
  <p:embeddedFontLst>
    <p:embeddedFont>
      <p:font typeface="Pretendard Medium"/>
      <p:bold r:id="rId16"/>
    </p:embeddedFont>
    <p:embeddedFont>
      <p:font typeface="Pretendard ExtraBold"/>
      <p:bold r:id="rId17"/>
    </p:embeddedFont>
    <p:embeddedFont>
      <p:font typeface="Pretendard Bold"/>
      <p:bold r:id="rId18"/>
    </p:embeddedFont>
    <p:embeddedFont>
      <p:font typeface="Pretendard Regular"/>
      <p:regular r:id="rId19"/>
    </p:embeddedFont>
    <p:embeddedFont>
      <p:font typeface="Pretendard SemiBold"/>
      <p:bold r:id="rId20"/>
    </p:embeddedFont>
    <p:embeddedFont>
      <p:font typeface="NanumSquare ExtraBold"/>
      <p:bold r:id="rId21"/>
    </p:embeddedFont>
    <p:embeddedFont>
      <p:font typeface="NanumSquare Regular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.fntdata" Type="http://schemas.openxmlformats.org/officeDocument/2006/relationships/font"/><Relationship Id="rId17" Target="fonts/font2.fntdata" Type="http://schemas.openxmlformats.org/officeDocument/2006/relationships/font"/><Relationship Id="rId18" Target="fonts/font3.fntdata" Type="http://schemas.openxmlformats.org/officeDocument/2006/relationships/font"/><Relationship Id="rId19" Target="fonts/font4.fntdata" Type="http://schemas.openxmlformats.org/officeDocument/2006/relationships/font"/><Relationship Id="rId2" Target="presProps.xml" Type="http://schemas.openxmlformats.org/officeDocument/2006/relationships/presProps"/><Relationship Id="rId20" Target="fonts/font5.fntdata" Type="http://schemas.openxmlformats.org/officeDocument/2006/relationships/font"/><Relationship Id="rId21" Target="fonts/font6.fntdata" Type="http://schemas.openxmlformats.org/officeDocument/2006/relationships/font"/><Relationship Id="rId22" Target="fonts/font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png" Type="http://schemas.openxmlformats.org/officeDocument/2006/relationships/image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png" Type="http://schemas.openxmlformats.org/officeDocument/2006/relationships/image"/><Relationship Id="rId12" Target="../media/image26.png" Type="http://schemas.openxmlformats.org/officeDocument/2006/relationships/image"/><Relationship Id="rId13" Target="../media/image27.png" Type="http://schemas.openxmlformats.org/officeDocument/2006/relationships/image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6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png" Type="http://schemas.openxmlformats.org/officeDocument/2006/relationships/image"/><Relationship Id="rId2" Target="../media/image28.png" Type="http://schemas.openxmlformats.org/officeDocument/2006/relationships/image"/><Relationship Id="rId3" Target="../media/image29.pn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22.png" Type="http://schemas.openxmlformats.org/officeDocument/2006/relationships/image"/><Relationship Id="rId7" Target="../media/image6.png" Type="http://schemas.openxmlformats.org/officeDocument/2006/relationships/image"/><Relationship Id="rId8" Target="../media/image32.pn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png" Type="http://schemas.openxmlformats.org/officeDocument/2006/relationships/image"/><Relationship Id="rId4" Target="../media/image38.png" Type="http://schemas.openxmlformats.org/officeDocument/2006/relationships/image"/><Relationship Id="rId5" Target="../media/image39.png" Type="http://schemas.openxmlformats.org/officeDocument/2006/relationships/image"/><Relationship Id="rId6" Target="../media/image22.png" Type="http://schemas.openxmlformats.org/officeDocument/2006/relationships/image"/><Relationship Id="rId7" Target="../media/image6.png" Type="http://schemas.openxmlformats.org/officeDocument/2006/relationships/image"/><Relationship Id="rId8" Target="../media/image40.pn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2" Target="../media/image42.png" Type="http://schemas.openxmlformats.org/officeDocument/2006/relationships/image"/><Relationship Id="rId3" Target="../media/image43.png" Type="http://schemas.openxmlformats.org/officeDocument/2006/relationships/image"/><Relationship Id="rId4" Target="../media/image44.png" Type="http://schemas.openxmlformats.org/officeDocument/2006/relationships/image"/><Relationship Id="rId5" Target="../media/image45.png" Type="http://schemas.openxmlformats.org/officeDocument/2006/relationships/image"/><Relationship Id="rId6" Target="../media/image46.png" Type="http://schemas.openxmlformats.org/officeDocument/2006/relationships/image"/><Relationship Id="rId7" Target="../media/image22.png" Type="http://schemas.openxmlformats.org/officeDocument/2006/relationships/image"/><Relationship Id="rId8" Target="../media/image47.pn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png" Type="http://schemas.openxmlformats.org/officeDocument/2006/relationships/image"/><Relationship Id="rId11" Target="../media/image55.png" Type="http://schemas.openxmlformats.org/officeDocument/2006/relationships/image"/><Relationship Id="rId12" Target="../media/image56.png" Type="http://schemas.openxmlformats.org/officeDocument/2006/relationships/image"/><Relationship Id="rId2" Target="../media/image49.png" Type="http://schemas.openxmlformats.org/officeDocument/2006/relationships/image"/><Relationship Id="rId3" Target="../media/image19.png" Type="http://schemas.openxmlformats.org/officeDocument/2006/relationships/image"/><Relationship Id="rId4" Target="../media/image50.png" Type="http://schemas.openxmlformats.org/officeDocument/2006/relationships/image"/><Relationship Id="rId5" Target="../media/image51.png" Type="http://schemas.openxmlformats.org/officeDocument/2006/relationships/image"/><Relationship Id="rId6" Target="../media/image52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Relationship Id="rId9" Target="../media/image5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4.png" Type="http://schemas.openxmlformats.org/officeDocument/2006/relationships/image"/><Relationship Id="rId11" Target="../media/image65.png" Type="http://schemas.openxmlformats.org/officeDocument/2006/relationships/image"/><Relationship Id="rId12" Target="../media/image66.png" Type="http://schemas.openxmlformats.org/officeDocument/2006/relationships/image"/><Relationship Id="rId13" Target="../media/image67.png" Type="http://schemas.openxmlformats.org/officeDocument/2006/relationships/image"/><Relationship Id="rId14" Target="../media/image68.png" Type="http://schemas.openxmlformats.org/officeDocument/2006/relationships/image"/><Relationship Id="rId15" Target="../media/image6.png" Type="http://schemas.openxmlformats.org/officeDocument/2006/relationships/image"/><Relationship Id="rId2" Target="../media/image57.png" Type="http://schemas.openxmlformats.org/officeDocument/2006/relationships/image"/><Relationship Id="rId3" Target="../media/image58.png" Type="http://schemas.openxmlformats.org/officeDocument/2006/relationships/image"/><Relationship Id="rId4" Target="../media/image59.png" Type="http://schemas.openxmlformats.org/officeDocument/2006/relationships/image"/><Relationship Id="rId5" Target="../media/image60.png" Type="http://schemas.openxmlformats.org/officeDocument/2006/relationships/image"/><Relationship Id="rId6" Target="../media/image22.png" Type="http://schemas.openxmlformats.org/officeDocument/2006/relationships/image"/><Relationship Id="rId7" Target="../media/image61.png" Type="http://schemas.openxmlformats.org/officeDocument/2006/relationships/image"/><Relationship Id="rId8" Target="../media/image62.png" Type="http://schemas.openxmlformats.org/officeDocument/2006/relationships/image"/><Relationship Id="rId9" Target="../media/image6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5.png" Type="http://schemas.openxmlformats.org/officeDocument/2006/relationships/image"/><Relationship Id="rId11" Target="../media/image76.png" Type="http://schemas.openxmlformats.org/officeDocument/2006/relationships/image"/><Relationship Id="rId12" Target="../media/image77.png" Type="http://schemas.openxmlformats.org/officeDocument/2006/relationships/image"/><Relationship Id="rId13" Target="../media/image53.png" Type="http://schemas.openxmlformats.org/officeDocument/2006/relationships/image"/><Relationship Id="rId14" Target="../media/image6.png" Type="http://schemas.openxmlformats.org/officeDocument/2006/relationships/image"/><Relationship Id="rId2" Target="../media/image69.png" Type="http://schemas.openxmlformats.org/officeDocument/2006/relationships/image"/><Relationship Id="rId3" Target="../media/image30.png" Type="http://schemas.openxmlformats.org/officeDocument/2006/relationships/image"/><Relationship Id="rId4" Target="../media/image70.png" Type="http://schemas.openxmlformats.org/officeDocument/2006/relationships/image"/><Relationship Id="rId5" Target="../media/image71.png" Type="http://schemas.openxmlformats.org/officeDocument/2006/relationships/image"/><Relationship Id="rId6" Target="../media/image72.png" Type="http://schemas.openxmlformats.org/officeDocument/2006/relationships/image"/><Relationship Id="rId7" Target="../media/image22.png" Type="http://schemas.openxmlformats.org/officeDocument/2006/relationships/image"/><Relationship Id="rId8" Target="../media/image73.png" Type="http://schemas.openxmlformats.org/officeDocument/2006/relationships/image"/><Relationship Id="rId9" Target="../media/image7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8.png" Type="http://schemas.openxmlformats.org/officeDocument/2006/relationships/image"/><Relationship Id="rId4" Target="../media/image79.png" Type="http://schemas.openxmlformats.org/officeDocument/2006/relationships/image"/><Relationship Id="rId5" Target="../media/image80.png" Type="http://schemas.openxmlformats.org/officeDocument/2006/relationships/image"/><Relationship Id="rId6" Target="../media/image81.png" Type="http://schemas.openxmlformats.org/officeDocument/2006/relationships/image"/><Relationship Id="rId7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215CD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3695700"/>
            <a:ext cx="22821900" cy="6324600"/>
          </a:xfrm>
          <a:prstGeom prst="rect">
            <a:avLst/>
          </a:prstGeom>
          <a:effectLst>
            <a:outerShdw dir="4560000" dist="170174" blurRad="158176">
              <a:srgbClr val="000000">
                <a:alpha val="6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0">
            <a:off x="7937500" y="9372600"/>
            <a:ext cx="8521700" cy="1968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43000"/>
          </a:blip>
          <a:stretch>
            <a:fillRect/>
          </a:stretch>
        </p:blipFill>
        <p:spPr>
          <a:xfrm rot="0">
            <a:off x="8102600" y="9550400"/>
            <a:ext cx="9067800" cy="1651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360000">
            <a:off x="6007100" y="5435600"/>
            <a:ext cx="12369800" cy="54991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850900" y="1003300"/>
            <a:ext cx="4381500" cy="444500"/>
          </a:xfrm>
          <a:prstGeom prst="rect">
            <a:avLst/>
          </a:prstGeom>
        </p:spPr>
        <p:txBody>
          <a:bodyPr anchor="ctr" rtlCol="false" lIns="0" tIns="32173" rIns="0" bIns="32173"/>
          <a:lstStyle/>
          <a:p>
            <a:pPr algn="l" lvl="0">
              <a:lnSpc>
                <a:spcPct val="99600"/>
              </a:lnSpc>
            </a:pPr>
            <a:r>
              <a:rPr lang="en-US" sz="2533" b="false" i="false" u="none" strike="noStrike">
                <a:solidFill>
                  <a:srgbClr val="FFFFFF">
                    <a:alpha val="50196"/>
                  </a:srgbClr>
                </a:solidFill>
                <a:latin typeface="Pretendard Regular"/>
                <a:ea typeface="Pretendard Regular"/>
                <a:cs typeface="Pretendard Regular"/>
              </a:rPr>
              <a:t>대한민국 NO. 1 에어라인 브랜드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660900" y="2362200"/>
            <a:ext cx="15074900" cy="1066800"/>
          </a:xfrm>
          <a:prstGeom prst="rect">
            <a:avLst/>
          </a:prstGeom>
        </p:spPr>
        <p:txBody>
          <a:bodyPr anchor="ctr" rtlCol="false" lIns="0" tIns="76200" rIns="0" bIns="76200"/>
          <a:lstStyle/>
          <a:p>
            <a:pPr algn="ctr" lvl="0">
              <a:lnSpc>
                <a:spcPct val="99600"/>
              </a:lnSpc>
            </a:pPr>
            <a:r>
              <a:rPr lang="en-US" sz="6000" b="false" i="false" u="none" strike="noStrike" spc="-20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AI기반 고객 만족도 예측  시스템 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99400" y="3467100"/>
            <a:ext cx="8585200" cy="520700"/>
          </a:xfrm>
          <a:prstGeom prst="rect">
            <a:avLst/>
          </a:prstGeom>
        </p:spPr>
        <p:txBody>
          <a:bodyPr anchor="ctr" rtlCol="false" lIns="0" tIns="37558" rIns="0" bIns="37558"/>
          <a:lstStyle/>
          <a:p>
            <a:pPr algn="ctr" lvl="0">
              <a:lnSpc>
                <a:spcPct val="99600"/>
              </a:lnSpc>
            </a:pPr>
            <a:r>
              <a:rPr lang="en-US" sz="2957" b="false" i="false" u="none" strike="noStrike" spc="100">
                <a:solidFill>
                  <a:srgbClr val="FFFFFF">
                    <a:alpha val="50196"/>
                  </a:srgbClr>
                </a:solidFill>
                <a:latin typeface="Pretendard Medium"/>
                <a:ea typeface="Pretendard Medium"/>
                <a:cs typeface="Pretendard Medium"/>
              </a:rPr>
              <a:t>Mini Project01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0900" y="11125200"/>
            <a:ext cx="46736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199" b="false" i="false" u="none" strike="noStrike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미니 프로젝트 1차 16조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63600" y="11785600"/>
            <a:ext cx="1828800" cy="406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266" b="false" i="false" u="none" strike="noStrike" spc="100" cap="all">
                <a:solidFill>
                  <a:srgbClr val="FFFFFF">
                    <a:alpha val="80000"/>
                  </a:srgbClr>
                </a:solidFill>
                <a:latin typeface="Pretendard Regular"/>
                <a:ea typeface="Pretendard Regular"/>
                <a:cs typeface="Pretendard Regular"/>
              </a:rPr>
              <a:t>조장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79700" y="11785600"/>
            <a:ext cx="4978400" cy="406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266" b="false" i="false" u="none" strike="noStrike" spc="100" cap="all">
                <a:solidFill>
                  <a:srgbClr val="FFFFFF">
                    <a:alpha val="80000"/>
                  </a:srgbClr>
                </a:solidFill>
                <a:latin typeface="Pretendard Regular"/>
                <a:ea typeface="Pretendard Regular"/>
                <a:cs typeface="Pretendard Regular"/>
              </a:rPr>
              <a:t>권오현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3600" y="12217400"/>
            <a:ext cx="1828800" cy="406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266" b="false" i="false" u="none" strike="noStrike" spc="100" cap="all">
                <a:solidFill>
                  <a:srgbClr val="FFFFFF">
                    <a:alpha val="80000"/>
                  </a:srgbClr>
                </a:solidFill>
                <a:latin typeface="Pretendard Regular"/>
                <a:ea typeface="Pretendard Regular"/>
                <a:cs typeface="Pretendard Regular"/>
              </a:rPr>
              <a:t>서기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679700" y="12217400"/>
            <a:ext cx="4978400" cy="406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266" b="false" i="false" u="none" strike="noStrike" spc="100" cap="all">
                <a:solidFill>
                  <a:srgbClr val="FFFFFF">
                    <a:alpha val="80000"/>
                  </a:srgbClr>
                </a:solidFill>
                <a:latin typeface="Pretendard Regular"/>
                <a:ea typeface="Pretendard Regular"/>
                <a:cs typeface="Pretendard Regular"/>
              </a:rPr>
              <a:t>박종호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63600" y="12636500"/>
            <a:ext cx="1828800" cy="406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266" b="false" i="false" u="none" strike="noStrike" spc="100" cap="all">
                <a:solidFill>
                  <a:srgbClr val="FFFFFF">
                    <a:alpha val="80000"/>
                  </a:srgbClr>
                </a:solidFill>
                <a:latin typeface="Pretendard Regular"/>
                <a:ea typeface="Pretendard Regular"/>
                <a:cs typeface="Pretendard Regular"/>
              </a:rPr>
              <a:t>PPT 제작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679700" y="12636500"/>
            <a:ext cx="4978400" cy="406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266" b="false" i="false" u="none" strike="noStrike" spc="100" cap="all">
                <a:solidFill>
                  <a:srgbClr val="FFFFFF">
                    <a:alpha val="80000"/>
                  </a:srgbClr>
                </a:solidFill>
                <a:latin typeface="Pretendard Regular"/>
                <a:ea typeface="Pretendard Regular"/>
                <a:cs typeface="Pretendard Regular"/>
              </a:rPr>
              <a:t>방리오, 함지애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233900" y="12661900"/>
            <a:ext cx="6311900" cy="381000"/>
          </a:xfrm>
          <a:prstGeom prst="rect">
            <a:avLst/>
          </a:prstGeom>
        </p:spPr>
        <p:txBody>
          <a:bodyPr anchor="ctr" rtlCol="false" lIns="0" tIns="27093" rIns="0" bIns="27093"/>
          <a:lstStyle/>
          <a:p>
            <a:pPr algn="r" lvl="0">
              <a:lnSpc>
                <a:spcPct val="99600"/>
              </a:lnSpc>
            </a:pPr>
            <a:r>
              <a:rPr lang="en-US" sz="2133" b="false" i="false" u="none" strike="noStrike" spc="100">
                <a:solidFill>
                  <a:srgbClr val="FFFFFF">
                    <a:alpha val="50196"/>
                  </a:srgbClr>
                </a:solidFill>
                <a:latin typeface="Pretendard Regular"/>
                <a:ea typeface="Pretendard Regular"/>
                <a:cs typeface="Pretendard Regular"/>
              </a:rPr>
              <a:t>2026.04.15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299200" y="12611100"/>
            <a:ext cx="1828800" cy="406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266" b="false" i="false" u="none" strike="noStrike" spc="100" cap="all">
                <a:solidFill>
                  <a:srgbClr val="FFFFFF">
                    <a:alpha val="80000"/>
                  </a:srgbClr>
                </a:solidFill>
                <a:latin typeface="Pretendard Regular"/>
                <a:ea typeface="Pretendard Regular"/>
                <a:cs typeface="Pretendard Regular"/>
              </a:rPr>
              <a:t>검토담당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128000" y="12611100"/>
            <a:ext cx="4978400" cy="406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266" b="false" i="false" u="none" strike="noStrike" spc="100" cap="all">
                <a:solidFill>
                  <a:srgbClr val="FFFFFF">
                    <a:alpha val="80000"/>
                  </a:srgbClr>
                </a:solidFill>
                <a:latin typeface="Pretendard Regular"/>
                <a:ea typeface="Pretendard Regular"/>
                <a:cs typeface="Pretendard Regular"/>
              </a:rPr>
              <a:t>성예은, 김연주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299200" y="12204700"/>
            <a:ext cx="1828800" cy="406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266" b="false" i="false" u="none" strike="noStrike" spc="100" cap="all">
                <a:solidFill>
                  <a:srgbClr val="FFFFFF">
                    <a:alpha val="80000"/>
                  </a:srgbClr>
                </a:solidFill>
                <a:latin typeface="Pretendard Regular"/>
                <a:ea typeface="Pretendard Regular"/>
                <a:cs typeface="Pretendard Regular"/>
              </a:rPr>
              <a:t>발표자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128000" y="12204700"/>
            <a:ext cx="4978400" cy="406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266" b="false" i="false" u="none" strike="noStrike" spc="100" cap="all">
                <a:solidFill>
                  <a:srgbClr val="FFFFFF">
                    <a:alpha val="80000"/>
                  </a:srgbClr>
                </a:solidFill>
                <a:latin typeface="Pretendard Regular"/>
                <a:ea typeface="Pretendard Regular"/>
                <a:cs typeface="Pretendard Regular"/>
              </a:rPr>
              <a:t>김성준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1336000" y="939800"/>
            <a:ext cx="2197100" cy="571500"/>
          </a:xfrm>
          <a:prstGeom prst="rect">
            <a:avLst/>
          </a:prstGeom>
        </p:spPr>
        <p:txBody>
          <a:bodyPr anchor="ctr" rtlCol="false" lIns="0" tIns="40639" rIns="0" bIns="40639"/>
          <a:lstStyle/>
          <a:p>
            <a:pPr algn="r" lvl="0">
              <a:lnSpc>
                <a:spcPct val="99600"/>
              </a:lnSpc>
            </a:pPr>
            <a:r>
              <a:rPr lang="en-US" sz="3199" b="false" i="false" u="none" strike="noStrike">
                <a:solidFill>
                  <a:srgbClr val="FFFFFF">
                    <a:alpha val="70196"/>
                  </a:srgbClr>
                </a:solidFill>
                <a:latin typeface="Pretendard Bold"/>
                <a:ea typeface="Pretendard Bold"/>
                <a:cs typeface="Pretendard Bold"/>
              </a:rPr>
              <a:t>AIVLE AIR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7">
            <a:alphaModFix amt="70000"/>
          </a:blip>
          <a:stretch>
            <a:fillRect/>
          </a:stretch>
        </p:blipFill>
        <p:spPr>
          <a:xfrm rot="2700000">
            <a:off x="20955000" y="952500"/>
            <a:ext cx="558800" cy="55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B7C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1506200" y="889000"/>
            <a:ext cx="2476500" cy="546100"/>
          </a:xfrm>
          <a:prstGeom prst="rect">
            <a:avLst/>
          </a:prstGeom>
        </p:spPr>
        <p:txBody>
          <a:bodyPr anchor="ctr" rtlCol="false" lIns="0" tIns="40639" rIns="0" bIns="40639"/>
          <a:lstStyle/>
          <a:p>
            <a:pPr algn="l" lvl="0">
              <a:lnSpc>
                <a:spcPct val="99600"/>
              </a:lnSpc>
            </a:pPr>
            <a:r>
              <a:rPr lang="en-US" sz="3050" b="false" i="false" u="none" strike="noStrike">
                <a:solidFill>
                  <a:srgbClr val="5576B3">
                    <a:alpha val="80000"/>
                  </a:srgbClr>
                </a:solidFill>
                <a:latin typeface="Pretendard Bold"/>
                <a:ea typeface="Pretendard Bold"/>
                <a:cs typeface="Pretendard Bold"/>
              </a:rPr>
              <a:t>AIVLE AIR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2700000">
            <a:off x="10858500" y="889000"/>
            <a:ext cx="533400" cy="533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661400" y="1803400"/>
            <a:ext cx="7061200" cy="1181100"/>
          </a:xfrm>
          <a:prstGeom prst="rect">
            <a:avLst/>
          </a:prstGeom>
        </p:spPr>
        <p:txBody>
          <a:bodyPr anchor="ctr" rtlCol="false" lIns="0" tIns="84665" rIns="0" bIns="84665"/>
          <a:lstStyle/>
          <a:p>
            <a:pPr algn="ctr" lvl="0">
              <a:lnSpc>
                <a:spcPct val="99600"/>
              </a:lnSpc>
            </a:pPr>
            <a:r>
              <a:rPr lang="en-US" sz="6666" b="false" i="false" u="none" strike="noStrike">
                <a:solidFill>
                  <a:srgbClr val="5576B3"/>
                </a:solidFill>
                <a:latin typeface="Pretendard ExtraBold"/>
                <a:ea typeface="Pretendard ExtraBold"/>
                <a:cs typeface="Pretendard ExtraBold"/>
              </a:rPr>
              <a:t>CONTENTS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18600" y="2971800"/>
            <a:ext cx="6146800" cy="495300"/>
          </a:xfrm>
          <a:prstGeom prst="rect">
            <a:avLst/>
          </a:prstGeom>
        </p:spPr>
        <p:txBody>
          <a:bodyPr anchor="ctr" rtlCol="false" lIns="0" tIns="35559" rIns="0" bIns="35559"/>
          <a:lstStyle/>
          <a:p>
            <a:pPr algn="ctr" lvl="0">
              <a:lnSpc>
                <a:spcPct val="99600"/>
              </a:lnSpc>
            </a:pPr>
            <a:r>
              <a:rPr lang="en-US" sz="2799" b="false" i="false" u="none" strike="noStrike" spc="100">
                <a:solidFill>
                  <a:srgbClr val="5576B3">
                    <a:alpha val="50196"/>
                  </a:srgbClr>
                </a:solidFill>
                <a:latin typeface="Pretendard Medium"/>
                <a:ea typeface="Pretendard Medium"/>
                <a:cs typeface="Pretendard Medium"/>
              </a:rPr>
              <a:t>Mini Project01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rot="0">
            <a:off x="-2806700" y="4699000"/>
            <a:ext cx="18300700" cy="5308600"/>
          </a:xfrm>
          <a:prstGeom prst="rect">
            <a:avLst/>
          </a:prstGeom>
          <a:effectLst>
            <a:outerShdw dir="4560000" dist="56742" blurRad="398335">
              <a:srgbClr val="000000">
                <a:alpha val="6000"/>
              </a:srgbClr>
            </a:outerShdw>
          </a:effectLst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 rot="0">
            <a:off x="50800" y="9766300"/>
            <a:ext cx="11087100" cy="1752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alphaModFix amt="30000"/>
          </a:blip>
          <a:stretch>
            <a:fillRect/>
          </a:stretch>
        </p:blipFill>
        <p:spPr>
          <a:xfrm rot="0">
            <a:off x="-1054100" y="9283700"/>
            <a:ext cx="9779000" cy="2717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20520000">
            <a:off x="-2108200" y="4902200"/>
            <a:ext cx="14897100" cy="4914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214600" y="5359400"/>
            <a:ext cx="685800" cy="6858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5240000" y="5448300"/>
            <a:ext cx="622300" cy="495300"/>
          </a:xfrm>
          <a:prstGeom prst="rect">
            <a:avLst/>
          </a:prstGeom>
        </p:spPr>
        <p:txBody>
          <a:bodyPr anchor="ctr" rtlCol="false" lIns="0" tIns="35559" rIns="0" bIns="35559"/>
          <a:lstStyle/>
          <a:p>
            <a:pPr algn="ctr" lvl="0">
              <a:lnSpc>
                <a:spcPct val="99600"/>
              </a:lnSpc>
            </a:pPr>
            <a:r>
              <a:rPr lang="en-US" sz="2799" b="false" i="false" u="none" strike="noStrike">
                <a:solidFill>
                  <a:srgbClr val="5576B3"/>
                </a:solidFill>
                <a:latin typeface="Pretendard Bold"/>
                <a:ea typeface="Pretendard Bold"/>
                <a:cs typeface="Pretendard Bold"/>
              </a:rPr>
              <a:t>1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252700" y="6642100"/>
            <a:ext cx="685800" cy="6858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5290800" y="6718300"/>
            <a:ext cx="635000" cy="520700"/>
          </a:xfrm>
          <a:prstGeom prst="rect">
            <a:avLst/>
          </a:prstGeom>
        </p:spPr>
        <p:txBody>
          <a:bodyPr anchor="ctr" rtlCol="false" lIns="0" tIns="36911" rIns="0" bIns="36911"/>
          <a:lstStyle/>
          <a:p>
            <a:pPr algn="ctr" lvl="0">
              <a:lnSpc>
                <a:spcPct val="99600"/>
              </a:lnSpc>
            </a:pPr>
            <a:r>
              <a:rPr lang="en-US" sz="2906" b="false" i="false" u="none" strike="noStrike">
                <a:solidFill>
                  <a:srgbClr val="5576B3"/>
                </a:solidFill>
                <a:latin typeface="Pretendard Bold"/>
                <a:ea typeface="Pretendard Bold"/>
                <a:cs typeface="Pretendard Bold"/>
              </a:rPr>
              <a:t>2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252700" y="7861300"/>
            <a:ext cx="685800" cy="6858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5290800" y="7950200"/>
            <a:ext cx="635000" cy="520700"/>
          </a:xfrm>
          <a:prstGeom prst="rect">
            <a:avLst/>
          </a:prstGeom>
        </p:spPr>
        <p:txBody>
          <a:bodyPr anchor="ctr" rtlCol="false" lIns="0" tIns="36911" rIns="0" bIns="36911"/>
          <a:lstStyle/>
          <a:p>
            <a:pPr algn="ctr" lvl="0">
              <a:lnSpc>
                <a:spcPct val="99600"/>
              </a:lnSpc>
            </a:pPr>
            <a:r>
              <a:rPr lang="en-US" sz="2906" b="false" i="false" u="none" strike="noStrike">
                <a:solidFill>
                  <a:srgbClr val="5576B3"/>
                </a:solidFill>
                <a:latin typeface="Pretendard Bold"/>
                <a:ea typeface="Pretendard Bold"/>
                <a:cs typeface="Pretendard Bold"/>
              </a:rPr>
              <a:t>3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303500" y="9080500"/>
            <a:ext cx="685800" cy="6858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5328900" y="9169400"/>
            <a:ext cx="635000" cy="520700"/>
          </a:xfrm>
          <a:prstGeom prst="rect">
            <a:avLst/>
          </a:prstGeom>
        </p:spPr>
        <p:txBody>
          <a:bodyPr anchor="ctr" rtlCol="false" lIns="0" tIns="36911" rIns="0" bIns="36911"/>
          <a:lstStyle/>
          <a:p>
            <a:pPr algn="ctr" lvl="0">
              <a:lnSpc>
                <a:spcPct val="99600"/>
              </a:lnSpc>
            </a:pPr>
            <a:r>
              <a:rPr lang="en-US" sz="2906" b="false" i="false" u="none" strike="noStrike">
                <a:solidFill>
                  <a:srgbClr val="5576B3"/>
                </a:solidFill>
                <a:latin typeface="Pretendard Bold"/>
                <a:ea typeface="Pretendard Bold"/>
                <a:cs typeface="Pretendard Bold"/>
              </a:rPr>
              <a:t>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129000" y="5334000"/>
            <a:ext cx="2959100" cy="660400"/>
          </a:xfrm>
          <a:prstGeom prst="rect">
            <a:avLst/>
          </a:prstGeom>
        </p:spPr>
        <p:txBody>
          <a:bodyPr anchor="ctr" rtlCol="false" lIns="0" tIns="47412" rIns="0" bIns="47412"/>
          <a:lstStyle/>
          <a:p>
            <a:pPr algn="l" lvl="0">
              <a:lnSpc>
                <a:spcPct val="99600"/>
              </a:lnSpc>
            </a:pPr>
            <a:r>
              <a:rPr lang="en-US" sz="3733" b="false" i="false" u="none" strike="noStrike">
                <a:solidFill>
                  <a:srgbClr val="5576B3"/>
                </a:solidFill>
                <a:latin typeface="Pretendard Bold"/>
                <a:ea typeface="Pretendard Bold"/>
                <a:cs typeface="Pretendard Bold"/>
              </a:rPr>
              <a:t>Hypotheses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719800" y="5422900"/>
            <a:ext cx="3073400" cy="469900"/>
          </a:xfrm>
          <a:prstGeom prst="rect">
            <a:avLst/>
          </a:prstGeom>
        </p:spPr>
        <p:txBody>
          <a:bodyPr anchor="ctr" rtlCol="false" lIns="0" tIns="33920" rIns="0" bIns="33920"/>
          <a:lstStyle/>
          <a:p>
            <a:pPr algn="l" lvl="0">
              <a:lnSpc>
                <a:spcPct val="99600"/>
              </a:lnSpc>
            </a:pPr>
            <a:r>
              <a:rPr lang="en-US" sz="2670" b="false" i="false" u="none" strike="noStrike">
                <a:solidFill>
                  <a:srgbClr val="5576B3"/>
                </a:solidFill>
                <a:latin typeface="Pretendard SemiBold"/>
                <a:ea typeface="Pretendard SemiBold"/>
                <a:cs typeface="Pretendard SemiBold"/>
              </a:rPr>
              <a:t>│가설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129000" y="6616700"/>
            <a:ext cx="2959100" cy="660400"/>
          </a:xfrm>
          <a:prstGeom prst="rect">
            <a:avLst/>
          </a:prstGeom>
        </p:spPr>
        <p:txBody>
          <a:bodyPr anchor="ctr" rtlCol="false" lIns="0" tIns="47412" rIns="0" bIns="47412"/>
          <a:lstStyle/>
          <a:p>
            <a:pPr algn="l" lvl="0">
              <a:lnSpc>
                <a:spcPct val="99600"/>
              </a:lnSpc>
            </a:pPr>
            <a:r>
              <a:rPr lang="en-US" sz="3733" b="false" i="false" u="none" strike="noStrike">
                <a:solidFill>
                  <a:srgbClr val="5576B3"/>
                </a:solidFill>
                <a:latin typeface="Pretendard Bold"/>
                <a:ea typeface="Pretendard Bold"/>
                <a:cs typeface="Pretendard Bold"/>
              </a:rPr>
              <a:t>Analysis1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719800" y="6718300"/>
            <a:ext cx="3073400" cy="469900"/>
          </a:xfrm>
          <a:prstGeom prst="rect">
            <a:avLst/>
          </a:prstGeom>
        </p:spPr>
        <p:txBody>
          <a:bodyPr anchor="ctr" rtlCol="false" lIns="0" tIns="33920" rIns="0" bIns="33920"/>
          <a:lstStyle/>
          <a:p>
            <a:pPr algn="l" lvl="0">
              <a:lnSpc>
                <a:spcPct val="99600"/>
              </a:lnSpc>
            </a:pPr>
            <a:r>
              <a:rPr lang="en-US" sz="2670" b="false" i="false" u="none" strike="noStrike">
                <a:solidFill>
                  <a:srgbClr val="5576B3"/>
                </a:solidFill>
                <a:latin typeface="Pretendard SemiBold"/>
                <a:ea typeface="Pretendard SemiBold"/>
                <a:cs typeface="Pretendard SemiBold"/>
              </a:rPr>
              <a:t>│단변량 분석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129000" y="7835900"/>
            <a:ext cx="2959100" cy="660400"/>
          </a:xfrm>
          <a:prstGeom prst="rect">
            <a:avLst/>
          </a:prstGeom>
        </p:spPr>
        <p:txBody>
          <a:bodyPr anchor="ctr" rtlCol="false" lIns="0" tIns="47412" rIns="0" bIns="47412"/>
          <a:lstStyle/>
          <a:p>
            <a:pPr algn="l" lvl="0">
              <a:lnSpc>
                <a:spcPct val="99600"/>
              </a:lnSpc>
            </a:pPr>
            <a:r>
              <a:rPr lang="en-US" sz="3733" b="false" i="false" u="none" strike="noStrike">
                <a:solidFill>
                  <a:srgbClr val="5576B3"/>
                </a:solidFill>
                <a:latin typeface="Pretendard Bold"/>
                <a:ea typeface="Pretendard Bold"/>
                <a:cs typeface="Pretendard Bold"/>
              </a:rPr>
              <a:t>Analysis2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719800" y="7950200"/>
            <a:ext cx="3073400" cy="469900"/>
          </a:xfrm>
          <a:prstGeom prst="rect">
            <a:avLst/>
          </a:prstGeom>
        </p:spPr>
        <p:txBody>
          <a:bodyPr anchor="ctr" rtlCol="false" lIns="0" tIns="33920" rIns="0" bIns="33920"/>
          <a:lstStyle/>
          <a:p>
            <a:pPr algn="l" lvl="0">
              <a:lnSpc>
                <a:spcPct val="99600"/>
              </a:lnSpc>
            </a:pPr>
            <a:r>
              <a:rPr lang="en-US" sz="2670" b="false" i="false" u="none" strike="noStrike">
                <a:solidFill>
                  <a:srgbClr val="5576B3"/>
                </a:solidFill>
                <a:latin typeface="Pretendard SemiBold"/>
                <a:ea typeface="Pretendard SemiBold"/>
                <a:cs typeface="Pretendard SemiBold"/>
              </a:rPr>
              <a:t>│이변량 분석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129000" y="9055100"/>
            <a:ext cx="3784600" cy="660400"/>
          </a:xfrm>
          <a:prstGeom prst="rect">
            <a:avLst/>
          </a:prstGeom>
        </p:spPr>
        <p:txBody>
          <a:bodyPr anchor="ctr" rtlCol="false" lIns="0" tIns="47412" rIns="0" bIns="47412"/>
          <a:lstStyle/>
          <a:p>
            <a:pPr algn="l" lvl="0">
              <a:lnSpc>
                <a:spcPct val="99600"/>
              </a:lnSpc>
            </a:pPr>
            <a:r>
              <a:rPr lang="en-US" sz="3733" b="false" i="false" u="none" strike="noStrike">
                <a:solidFill>
                  <a:srgbClr val="5576B3"/>
                </a:solidFill>
                <a:latin typeface="Pretendard Bold"/>
                <a:ea typeface="Pretendard Bold"/>
                <a:cs typeface="Pretendard Bold"/>
              </a:rPr>
              <a:t>Result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719800" y="9156700"/>
            <a:ext cx="3962400" cy="469900"/>
          </a:xfrm>
          <a:prstGeom prst="rect">
            <a:avLst/>
          </a:prstGeom>
        </p:spPr>
        <p:txBody>
          <a:bodyPr anchor="ctr" rtlCol="false" lIns="0" tIns="33920" rIns="0" bIns="33920"/>
          <a:lstStyle/>
          <a:p>
            <a:pPr algn="l" lvl="0">
              <a:lnSpc>
                <a:spcPct val="99600"/>
              </a:lnSpc>
            </a:pPr>
            <a:r>
              <a:rPr lang="en-US" sz="2670" b="false" i="false" u="none" strike="noStrike">
                <a:solidFill>
                  <a:srgbClr val="5576B3"/>
                </a:solidFill>
                <a:latin typeface="Pretendard SemiBold"/>
                <a:ea typeface="Pretendard SemiBold"/>
                <a:cs typeface="Pretendard SemiBold"/>
              </a:rPr>
              <a:t>│딥러닝 그래프 성능평가</a:t>
            </a:r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303500" y="10299700"/>
            <a:ext cx="685800" cy="6858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15328900" y="10388600"/>
            <a:ext cx="635000" cy="520700"/>
          </a:xfrm>
          <a:prstGeom prst="rect">
            <a:avLst/>
          </a:prstGeom>
        </p:spPr>
        <p:txBody>
          <a:bodyPr anchor="ctr" rtlCol="false" lIns="0" tIns="36911" rIns="0" bIns="36911"/>
          <a:lstStyle/>
          <a:p>
            <a:pPr algn="ctr" lvl="0">
              <a:lnSpc>
                <a:spcPct val="99600"/>
              </a:lnSpc>
            </a:pPr>
            <a:r>
              <a:rPr lang="en-US" sz="2906" b="false" i="false" u="none" strike="noStrike">
                <a:solidFill>
                  <a:srgbClr val="5576B3"/>
                </a:solidFill>
                <a:latin typeface="Pretendard Bold"/>
                <a:ea typeface="Pretendard Bold"/>
                <a:cs typeface="Pretendard Bold"/>
              </a:rPr>
              <a:t>5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129000" y="10287000"/>
            <a:ext cx="2959100" cy="660400"/>
          </a:xfrm>
          <a:prstGeom prst="rect">
            <a:avLst/>
          </a:prstGeom>
        </p:spPr>
        <p:txBody>
          <a:bodyPr anchor="ctr" rtlCol="false" lIns="0" tIns="47412" rIns="0" bIns="47412"/>
          <a:lstStyle/>
          <a:p>
            <a:pPr algn="l" lvl="0">
              <a:lnSpc>
                <a:spcPct val="99600"/>
              </a:lnSpc>
            </a:pPr>
            <a:r>
              <a:rPr lang="en-US" sz="3733" b="false" i="false" u="none" strike="noStrike">
                <a:solidFill>
                  <a:srgbClr val="5576B3"/>
                </a:solidFill>
                <a:latin typeface="Pretendard Bold"/>
                <a:ea typeface="Pretendard Bold"/>
                <a:cs typeface="Pretendard Bold"/>
              </a:rPr>
              <a:t>Result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8719800" y="10401300"/>
            <a:ext cx="3073400" cy="469900"/>
          </a:xfrm>
          <a:prstGeom prst="rect">
            <a:avLst/>
          </a:prstGeom>
        </p:spPr>
        <p:txBody>
          <a:bodyPr anchor="ctr" rtlCol="false" lIns="0" tIns="33920" rIns="0" bIns="33920"/>
          <a:lstStyle/>
          <a:p>
            <a:pPr algn="l" lvl="0">
              <a:lnSpc>
                <a:spcPct val="99600"/>
              </a:lnSpc>
            </a:pPr>
            <a:r>
              <a:rPr lang="en-US" sz="2670" b="false" i="false" u="none" strike="noStrike">
                <a:solidFill>
                  <a:srgbClr val="5576B3"/>
                </a:solidFill>
                <a:latin typeface="Pretendard SemiBold"/>
                <a:ea typeface="Pretendard SemiBold"/>
                <a:cs typeface="Pretendard SemiBold"/>
              </a:rPr>
              <a:t>│모델링 및 결과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8BB0F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040600" y="9232900"/>
            <a:ext cx="3581400" cy="2400300"/>
          </a:xfrm>
          <a:prstGeom prst="rect">
            <a:avLst/>
          </a:prstGeom>
          <a:effectLst>
            <a:outerShdw dir="5400000" dist="0" blurRad="132260">
              <a:srgbClr val="5576B3">
                <a:alpha val="7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015200" y="7543800"/>
            <a:ext cx="3581400" cy="2400300"/>
          </a:xfrm>
          <a:prstGeom prst="rect">
            <a:avLst/>
          </a:prstGeom>
          <a:effectLst>
            <a:outerShdw dir="5400000" dist="0" blurRad="132260">
              <a:srgbClr val="5576B3">
                <a:alpha val="70000"/>
              </a:srgbClr>
            </a:outerShdw>
          </a:effectLst>
        </p:spPr>
      </p:pic>
      <p:sp>
        <p:nvSpPr>
          <p:cNvPr name="TextBox 4" id="4"/>
          <p:cNvSpPr txBox="true"/>
          <p:nvPr/>
        </p:nvSpPr>
        <p:spPr>
          <a:xfrm rot="0">
            <a:off x="20497800" y="8623300"/>
            <a:ext cx="3111500" cy="8890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F1F6FF">
                    <a:alpha val="50196"/>
                  </a:srgbClr>
                </a:solidFill>
                <a:latin typeface="Pretendard Regular"/>
                <a:ea typeface="Pretendard Regular"/>
                <a:cs typeface="Pretendard Regular"/>
              </a:rPr>
              <a:t>딥러닝 그래프
성능평가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628100" y="12268200"/>
            <a:ext cx="2197100" cy="571500"/>
          </a:xfrm>
          <a:prstGeom prst="rect">
            <a:avLst/>
          </a:prstGeom>
        </p:spPr>
        <p:txBody>
          <a:bodyPr anchor="ctr" rtlCol="false" lIns="0" tIns="40639" rIns="0" bIns="40639"/>
          <a:lstStyle/>
          <a:p>
            <a:pPr algn="r" lvl="0">
              <a:lnSpc>
                <a:spcPct val="99600"/>
              </a:lnSpc>
            </a:pPr>
            <a:r>
              <a:rPr lang="en-US" sz="3199" b="false" i="false" u="none" strike="noStrike">
                <a:solidFill>
                  <a:srgbClr val="FFFFFF">
                    <a:alpha val="70196"/>
                  </a:srgbClr>
                </a:solidFill>
                <a:latin typeface="Pretendard Bold"/>
                <a:ea typeface="Pretendard Bold"/>
                <a:cs typeface="Pretendard Bold"/>
              </a:rPr>
              <a:t>AIVLE AIR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 rot="2700000">
            <a:off x="21247100" y="12268200"/>
            <a:ext cx="558800" cy="5588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20497800" y="10477500"/>
            <a:ext cx="3111500" cy="5207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F1F6FF">
                    <a:alpha val="50196"/>
                  </a:srgbClr>
                </a:solidFill>
                <a:latin typeface="Pretendard Regular"/>
                <a:ea typeface="Pretendard Regular"/>
                <a:cs typeface="Pretendard Regular"/>
              </a:rPr>
              <a:t>결과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510500" y="749300"/>
            <a:ext cx="3911600" cy="330200"/>
          </a:xfrm>
          <a:prstGeom prst="rect">
            <a:avLst/>
          </a:prstGeom>
        </p:spPr>
        <p:txBody>
          <a:bodyPr anchor="ctr" rtlCol="false" lIns="0" tIns="23706" rIns="0" bIns="23706"/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Mini Project01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015200" y="5943600"/>
            <a:ext cx="3581400" cy="2400300"/>
          </a:xfrm>
          <a:prstGeom prst="rect">
            <a:avLst/>
          </a:prstGeom>
          <a:effectLst>
            <a:outerShdw dir="5400000" dist="0" blurRad="132260">
              <a:srgbClr val="5576B3">
                <a:alpha val="70000"/>
              </a:srgbClr>
            </a:outerShdw>
          </a:effectLst>
        </p:spPr>
      </p:pic>
      <p:sp>
        <p:nvSpPr>
          <p:cNvPr name="TextBox 10" id="10"/>
          <p:cNvSpPr txBox="true"/>
          <p:nvPr/>
        </p:nvSpPr>
        <p:spPr>
          <a:xfrm rot="0">
            <a:off x="20548600" y="7073900"/>
            <a:ext cx="3111500" cy="5207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F1F6FF">
                    <a:alpha val="50196"/>
                  </a:srgbClr>
                </a:solidFill>
                <a:latin typeface="Pretendard Regular"/>
                <a:ea typeface="Pretendard Regular"/>
                <a:cs typeface="Pretendard Regular"/>
              </a:rPr>
              <a:t>이변량 분석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015200" y="4089400"/>
            <a:ext cx="3581400" cy="2400300"/>
          </a:xfrm>
          <a:prstGeom prst="rect">
            <a:avLst/>
          </a:prstGeom>
          <a:effectLst>
            <a:outerShdw dir="5400000" dist="0" blurRad="132260">
              <a:srgbClr val="5576B3">
                <a:alpha val="70000"/>
              </a:srgbClr>
            </a:outerShdw>
          </a:effectLst>
        </p:spPr>
      </p:pic>
      <p:sp>
        <p:nvSpPr>
          <p:cNvPr name="TextBox 12" id="12"/>
          <p:cNvSpPr txBox="true"/>
          <p:nvPr/>
        </p:nvSpPr>
        <p:spPr>
          <a:xfrm rot="0">
            <a:off x="20548600" y="5232400"/>
            <a:ext cx="3111500" cy="5207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F1F6FF">
                    <a:alpha val="50196"/>
                  </a:srgbClr>
                </a:solidFill>
                <a:latin typeface="Pretendard Regular"/>
                <a:ea typeface="Pretendard Regular"/>
                <a:cs typeface="Pretendard Regular"/>
              </a:rPr>
              <a:t>단변량 분석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0243800" y="2247900"/>
            <a:ext cx="3581400" cy="2362200"/>
          </a:xfrm>
          <a:prstGeom prst="rect">
            <a:avLst/>
          </a:prstGeom>
          <a:effectLst>
            <a:outerShdw dir="5400000" dist="0" blurRad="129795">
              <a:srgbClr val="718FC8">
                <a:alpha val="60000"/>
              </a:srgbClr>
            </a:outerShdw>
          </a:effectLst>
        </p:spPr>
      </p:pic>
      <p:sp>
        <p:nvSpPr>
          <p:cNvPr name="TextBox 14" id="14"/>
          <p:cNvSpPr txBox="true"/>
          <p:nvPr/>
        </p:nvSpPr>
        <p:spPr>
          <a:xfrm rot="0">
            <a:off x="20574000" y="3187700"/>
            <a:ext cx="2921000" cy="5207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5576B3"/>
                </a:solidFill>
                <a:latin typeface="Pretendard Bold"/>
                <a:ea typeface="Pretendard Bold"/>
                <a:cs typeface="Pretendard Bold"/>
              </a:rPr>
              <a:t>가설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0" y="0"/>
            <a:ext cx="20548600" cy="137160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701800" y="2870200"/>
            <a:ext cx="4851400" cy="469900"/>
          </a:xfrm>
          <a:prstGeom prst="rect">
            <a:avLst/>
          </a:prstGeom>
        </p:spPr>
        <p:txBody>
          <a:bodyPr anchor="ctr" rtlCol="false" lIns="0" tIns="33866" rIns="0" bIns="33866"/>
          <a:lstStyle/>
          <a:p>
            <a:pPr algn="l" lvl="0">
              <a:lnSpc>
                <a:spcPct val="99600"/>
              </a:lnSpc>
            </a:pPr>
            <a:r>
              <a:rPr lang="en-US" sz="2666" b="false" i="false" u="none" strike="noStrike">
                <a:solidFill>
                  <a:srgbClr val="5576B3">
                    <a:alpha val="80000"/>
                  </a:srgbClr>
                </a:solidFill>
                <a:latin typeface="Pretendard Medium"/>
                <a:ea typeface="Pretendard Medium"/>
                <a:cs typeface="Pretendard Medium"/>
              </a:rPr>
              <a:t>가설 - 설문조사에 대한 가설 3가지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324600" y="5511800"/>
            <a:ext cx="12585700" cy="10541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2700000">
            <a:off x="7518400" y="5765800"/>
            <a:ext cx="533400" cy="5334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8128000" y="5791200"/>
            <a:ext cx="2387600" cy="495300"/>
          </a:xfrm>
          <a:prstGeom prst="rect">
            <a:avLst/>
          </a:prstGeom>
        </p:spPr>
        <p:txBody>
          <a:bodyPr anchor="ctr" rtlCol="false" lIns="0" tIns="35559" rIns="0" bIns="35559"/>
          <a:lstStyle/>
          <a:p>
            <a:pPr algn="l" lvl="0">
              <a:lnSpc>
                <a:spcPct val="99600"/>
              </a:lnSpc>
            </a:pPr>
            <a:r>
              <a:rPr lang="en-US" sz="2799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Hypothesis1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896600" y="5816600"/>
            <a:ext cx="7416800" cy="406400"/>
          </a:xfrm>
          <a:prstGeom prst="rect">
            <a:avLst/>
          </a:prstGeom>
        </p:spPr>
        <p:txBody>
          <a:bodyPr anchor="ctr" rtlCol="false" lIns="0" tIns="28786" rIns="0" bIns="28786"/>
          <a:lstStyle/>
          <a:p>
            <a:pPr algn="l" lvl="0">
              <a:lnSpc>
                <a:spcPct val="99600"/>
              </a:lnSpc>
            </a:pPr>
            <a:r>
              <a:rPr lang="en-US" sz="2266" b="false" i="false" u="none" strike="noStrike">
                <a:solidFill>
                  <a:srgbClr val="FFFFFF">
                    <a:alpha val="80000"/>
                  </a:srgbClr>
                </a:solidFill>
                <a:latin typeface="Pretendard Regular"/>
                <a:ea typeface="Pretendard Regular"/>
                <a:cs typeface="Pretendard Regular"/>
              </a:rPr>
              <a:t>│비즈니스 목적일 경우 충성고객일 확률이 더 높다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324600" y="6845300"/>
            <a:ext cx="12585700" cy="10541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2700000">
            <a:off x="7518400" y="7112000"/>
            <a:ext cx="533400" cy="5334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10896600" y="7150100"/>
            <a:ext cx="7416800" cy="406400"/>
          </a:xfrm>
          <a:prstGeom prst="rect">
            <a:avLst/>
          </a:prstGeom>
        </p:spPr>
        <p:txBody>
          <a:bodyPr anchor="ctr" rtlCol="false" lIns="0" tIns="28786" rIns="0" bIns="28786"/>
          <a:lstStyle/>
          <a:p>
            <a:pPr algn="l" lvl="0">
              <a:lnSpc>
                <a:spcPct val="99600"/>
              </a:lnSpc>
            </a:pPr>
            <a:r>
              <a:rPr lang="en-US" sz="2266" b="false" i="false" u="none" strike="noStrike">
                <a:solidFill>
                  <a:srgbClr val="FFFFFF">
                    <a:alpha val="80000"/>
                  </a:srgbClr>
                </a:solidFill>
                <a:latin typeface="Pretendard Regular"/>
                <a:ea typeface="Pretendard Regular"/>
                <a:cs typeface="Pretendard Regular"/>
              </a:rPr>
              <a:t>│비즈니스석을 이용할 경우 충성고객일 확률이 더 높다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324600" y="8178800"/>
            <a:ext cx="12585700" cy="10541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2700000">
            <a:off x="7518400" y="8445500"/>
            <a:ext cx="533400" cy="533400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0">
            <a:off x="10896600" y="8496300"/>
            <a:ext cx="7416800" cy="406400"/>
          </a:xfrm>
          <a:prstGeom prst="rect">
            <a:avLst/>
          </a:prstGeom>
        </p:spPr>
        <p:txBody>
          <a:bodyPr anchor="ctr" rtlCol="false" lIns="0" tIns="28786" rIns="0" bIns="28786"/>
          <a:lstStyle/>
          <a:p>
            <a:pPr algn="l" lvl="0">
              <a:lnSpc>
                <a:spcPct val="99600"/>
              </a:lnSpc>
            </a:pPr>
            <a:r>
              <a:rPr lang="en-US" sz="2266" b="false" i="false" u="none" strike="noStrike">
                <a:solidFill>
                  <a:srgbClr val="FFFFFF">
                    <a:alpha val="80000"/>
                  </a:srgbClr>
                </a:solidFill>
                <a:latin typeface="Pretendard Regular"/>
                <a:ea typeface="Pretendard Regular"/>
                <a:cs typeface="Pretendard Regular"/>
              </a:rPr>
              <a:t>│충성고객일 경우 만족도가 높을 확률이 더 높다.</a:t>
            </a:r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300000">
            <a:off x="-3784600" y="3390900"/>
            <a:ext cx="10477500" cy="91313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21628100" y="12268200"/>
            <a:ext cx="2197100" cy="571500"/>
          </a:xfrm>
          <a:prstGeom prst="rect">
            <a:avLst/>
          </a:prstGeom>
        </p:spPr>
        <p:txBody>
          <a:bodyPr anchor="ctr" rtlCol="false" lIns="0" tIns="40639" rIns="0" bIns="40639"/>
          <a:lstStyle/>
          <a:p>
            <a:pPr algn="r" lvl="0">
              <a:lnSpc>
                <a:spcPct val="99600"/>
              </a:lnSpc>
            </a:pPr>
            <a:r>
              <a:rPr lang="en-US" sz="3199" b="false" i="false" u="none" strike="noStrike">
                <a:solidFill>
                  <a:srgbClr val="FFFFFF">
                    <a:alpha val="70196"/>
                  </a:srgbClr>
                </a:solidFill>
                <a:latin typeface="Pretendard Bold"/>
                <a:ea typeface="Pretendard Bold"/>
                <a:cs typeface="Pretendard Bold"/>
              </a:rPr>
              <a:t>AIVLE AIR</a:t>
            </a:r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 rot="2700000">
            <a:off x="21247100" y="12268200"/>
            <a:ext cx="558800" cy="558800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1371600" y="1765300"/>
            <a:ext cx="5346700" cy="1181100"/>
          </a:xfrm>
          <a:prstGeom prst="rect">
            <a:avLst/>
          </a:prstGeom>
        </p:spPr>
        <p:txBody>
          <a:bodyPr anchor="ctr" rtlCol="false" lIns="0" tIns="84665" rIns="0" bIns="84665"/>
          <a:lstStyle/>
          <a:p>
            <a:pPr algn="l" lvl="0">
              <a:lnSpc>
                <a:spcPct val="99600"/>
              </a:lnSpc>
            </a:pPr>
            <a:r>
              <a:rPr lang="en-US" sz="6666" b="false" i="false" u="none" strike="noStrike">
                <a:solidFill>
                  <a:srgbClr val="5576B3"/>
                </a:solidFill>
                <a:latin typeface="Pretendard ExtraBold"/>
                <a:ea typeface="Pretendard ExtraBold"/>
                <a:cs typeface="Pretendard ExtraBold"/>
              </a:rPr>
              <a:t>Hypotheses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128000" y="7124700"/>
            <a:ext cx="2387600" cy="495300"/>
          </a:xfrm>
          <a:prstGeom prst="rect">
            <a:avLst/>
          </a:prstGeom>
        </p:spPr>
        <p:txBody>
          <a:bodyPr anchor="ctr" rtlCol="false" lIns="0" tIns="35559" rIns="0" bIns="35559"/>
          <a:lstStyle/>
          <a:p>
            <a:pPr algn="l" lvl="0">
              <a:lnSpc>
                <a:spcPct val="99600"/>
              </a:lnSpc>
            </a:pPr>
            <a:r>
              <a:rPr lang="en-US" sz="2799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Hypothesis2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153400" y="8458200"/>
            <a:ext cx="2387600" cy="495300"/>
          </a:xfrm>
          <a:prstGeom prst="rect">
            <a:avLst/>
          </a:prstGeom>
        </p:spPr>
        <p:txBody>
          <a:bodyPr anchor="ctr" rtlCol="false" lIns="0" tIns="35559" rIns="0" bIns="35559"/>
          <a:lstStyle/>
          <a:p>
            <a:pPr algn="l" lvl="0">
              <a:lnSpc>
                <a:spcPct val="99600"/>
              </a:lnSpc>
            </a:pPr>
            <a:r>
              <a:rPr lang="en-US" sz="2799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Hypothesis3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8BB0F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015200" y="1905000"/>
            <a:ext cx="3581400" cy="2400300"/>
          </a:xfrm>
          <a:prstGeom prst="rect">
            <a:avLst/>
          </a:prstGeom>
          <a:effectLst>
            <a:outerShdw dir="5400000" dist="0" blurRad="132260">
              <a:srgbClr val="5576B3">
                <a:alpha val="70000"/>
              </a:srgbClr>
            </a:outerShdw>
          </a:effectLst>
        </p:spPr>
      </p:pic>
      <p:sp>
        <p:nvSpPr>
          <p:cNvPr name="TextBox 3" id="3"/>
          <p:cNvSpPr txBox="true"/>
          <p:nvPr/>
        </p:nvSpPr>
        <p:spPr>
          <a:xfrm rot="0">
            <a:off x="20548600" y="2641600"/>
            <a:ext cx="3111500" cy="5207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F1F6FF">
                    <a:alpha val="50196"/>
                  </a:srgbClr>
                </a:solidFill>
                <a:latin typeface="Pretendard Regular"/>
                <a:ea typeface="Pretendard Regular"/>
                <a:cs typeface="Pretendard Regular"/>
              </a:rPr>
              <a:t>가설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040600" y="9232900"/>
            <a:ext cx="3581400" cy="2400300"/>
          </a:xfrm>
          <a:prstGeom prst="rect">
            <a:avLst/>
          </a:prstGeom>
          <a:effectLst>
            <a:outerShdw dir="5400000" dist="0" blurRad="132260">
              <a:srgbClr val="5576B3">
                <a:alpha val="70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015200" y="7543800"/>
            <a:ext cx="3581400" cy="2400300"/>
          </a:xfrm>
          <a:prstGeom prst="rect">
            <a:avLst/>
          </a:prstGeom>
          <a:effectLst>
            <a:outerShdw dir="5400000" dist="0" blurRad="132260">
              <a:srgbClr val="5576B3">
                <a:alpha val="70000"/>
              </a:srgbClr>
            </a:outerShdw>
          </a:effectLst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040600" y="5905500"/>
            <a:ext cx="3581400" cy="2400300"/>
          </a:xfrm>
          <a:prstGeom prst="rect">
            <a:avLst/>
          </a:prstGeom>
          <a:effectLst>
            <a:outerShdw dir="5400000" dist="0" blurRad="132260">
              <a:srgbClr val="5576B3">
                <a:alpha val="70000"/>
              </a:srgbClr>
            </a:outerShdw>
          </a:effectLst>
        </p:spPr>
      </p:pic>
      <p:sp>
        <p:nvSpPr>
          <p:cNvPr name="TextBox 7" id="7"/>
          <p:cNvSpPr txBox="true"/>
          <p:nvPr/>
        </p:nvSpPr>
        <p:spPr>
          <a:xfrm rot="0">
            <a:off x="20574000" y="7023100"/>
            <a:ext cx="3111500" cy="5207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F1F6FF">
                    <a:alpha val="50196"/>
                  </a:srgbClr>
                </a:solidFill>
                <a:latin typeface="Pretendard Regular"/>
                <a:ea typeface="Pretendard Regular"/>
                <a:cs typeface="Pretendard Regular"/>
              </a:rPr>
              <a:t>이변량 분석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497800" y="8623300"/>
            <a:ext cx="3111500" cy="8890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F1F6FF">
                    <a:alpha val="50196"/>
                  </a:srgbClr>
                </a:solidFill>
                <a:latin typeface="Pretendard Regular"/>
                <a:ea typeface="Pretendard Regular"/>
                <a:cs typeface="Pretendard Regular"/>
              </a:rPr>
              <a:t>딥러닝 그래프
성능평가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243800" y="3975100"/>
            <a:ext cx="3581400" cy="2362200"/>
          </a:xfrm>
          <a:prstGeom prst="rect">
            <a:avLst/>
          </a:prstGeom>
          <a:effectLst>
            <a:outerShdw dir="5400000" dist="0" blurRad="129795">
              <a:srgbClr val="718FC8">
                <a:alpha val="60000"/>
              </a:srgbClr>
            </a:outerShdw>
          </a:effectLst>
        </p:spPr>
      </p:pic>
      <p:sp>
        <p:nvSpPr>
          <p:cNvPr name="TextBox 10" id="10"/>
          <p:cNvSpPr txBox="true"/>
          <p:nvPr/>
        </p:nvSpPr>
        <p:spPr>
          <a:xfrm rot="0">
            <a:off x="20662900" y="4914900"/>
            <a:ext cx="2921000" cy="5207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5576B3"/>
                </a:solidFill>
                <a:latin typeface="Pretendard Bold"/>
                <a:ea typeface="Pretendard Bold"/>
                <a:cs typeface="Pretendard Bold"/>
              </a:rPr>
              <a:t>단변량 분석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0" y="0"/>
            <a:ext cx="20548600" cy="137160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965200" y="1079500"/>
            <a:ext cx="5359400" cy="1181100"/>
          </a:xfrm>
          <a:prstGeom prst="rect">
            <a:avLst/>
          </a:prstGeom>
        </p:spPr>
        <p:txBody>
          <a:bodyPr anchor="ctr" rtlCol="false" lIns="0" tIns="84665" rIns="0" bIns="84665"/>
          <a:lstStyle/>
          <a:p>
            <a:pPr algn="l" lvl="0">
              <a:lnSpc>
                <a:spcPct val="99600"/>
              </a:lnSpc>
            </a:pPr>
            <a:r>
              <a:rPr lang="en-US" sz="6666" b="false" i="false" u="none" strike="noStrike">
                <a:solidFill>
                  <a:srgbClr val="5576B3"/>
                </a:solidFill>
                <a:latin typeface="Pretendard ExtraBold"/>
                <a:ea typeface="Pretendard ExtraBold"/>
                <a:cs typeface="Pretendard ExtraBold"/>
              </a:rPr>
              <a:t>Analysis1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95400" y="2197100"/>
            <a:ext cx="4851400" cy="469900"/>
          </a:xfrm>
          <a:prstGeom prst="rect">
            <a:avLst/>
          </a:prstGeom>
        </p:spPr>
        <p:txBody>
          <a:bodyPr anchor="ctr" rtlCol="false" lIns="0" tIns="33866" rIns="0" bIns="33866"/>
          <a:lstStyle/>
          <a:p>
            <a:pPr algn="l" lvl="0">
              <a:lnSpc>
                <a:spcPct val="99600"/>
              </a:lnSpc>
            </a:pPr>
            <a:r>
              <a:rPr lang="en-US" sz="2666" b="false" i="false" u="none" strike="noStrike">
                <a:solidFill>
                  <a:srgbClr val="5576B3">
                    <a:alpha val="80000"/>
                  </a:srgbClr>
                </a:solidFill>
                <a:latin typeface="Pretendard Medium"/>
                <a:ea typeface="Pretendard Medium"/>
                <a:cs typeface="Pretendard Medium"/>
              </a:rPr>
              <a:t>단변량 분석 결과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628100" y="12268200"/>
            <a:ext cx="2197100" cy="571500"/>
          </a:xfrm>
          <a:prstGeom prst="rect">
            <a:avLst/>
          </a:prstGeom>
        </p:spPr>
        <p:txBody>
          <a:bodyPr anchor="ctr" rtlCol="false" lIns="0" tIns="40639" rIns="0" bIns="40639"/>
          <a:lstStyle/>
          <a:p>
            <a:pPr algn="r" lvl="0">
              <a:lnSpc>
                <a:spcPct val="99600"/>
              </a:lnSpc>
            </a:pPr>
            <a:r>
              <a:rPr lang="en-US" sz="3199" b="false" i="false" u="none" strike="noStrike">
                <a:solidFill>
                  <a:srgbClr val="FFFFFF">
                    <a:alpha val="70196"/>
                  </a:srgbClr>
                </a:solidFill>
                <a:latin typeface="Pretendard Bold"/>
                <a:ea typeface="Pretendard Bold"/>
                <a:cs typeface="Pretendard Bold"/>
              </a:rPr>
              <a:t>AIVLE AIR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alphaModFix amt="70000"/>
          </a:blip>
          <a:stretch>
            <a:fillRect/>
          </a:stretch>
        </p:blipFill>
        <p:spPr>
          <a:xfrm rot="2700000">
            <a:off x="21247100" y="12268200"/>
            <a:ext cx="558800" cy="5588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20510500" y="749300"/>
            <a:ext cx="3911600" cy="330200"/>
          </a:xfrm>
          <a:prstGeom prst="rect">
            <a:avLst/>
          </a:prstGeom>
        </p:spPr>
        <p:txBody>
          <a:bodyPr anchor="ctr" rtlCol="false" lIns="0" tIns="23706" rIns="0" bIns="23706"/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Mini Project01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497800" y="10477500"/>
            <a:ext cx="3111500" cy="5207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F1F6FF">
                    <a:alpha val="50196"/>
                  </a:srgbClr>
                </a:solidFill>
                <a:latin typeface="Pretendard Regular"/>
                <a:ea typeface="Pretendard Regular"/>
                <a:cs typeface="Pretendard Regular"/>
              </a:rPr>
              <a:t>결과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111500" y="2971800"/>
            <a:ext cx="6718300" cy="49149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452100" y="2971800"/>
            <a:ext cx="6667500" cy="4914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111500" y="8191500"/>
            <a:ext cx="6718300" cy="49276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452100" y="8191500"/>
            <a:ext cx="6731000" cy="492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8BB0F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015200" y="1905000"/>
            <a:ext cx="3581400" cy="2400300"/>
          </a:xfrm>
          <a:prstGeom prst="rect">
            <a:avLst/>
          </a:prstGeom>
          <a:effectLst>
            <a:outerShdw dir="5400000" dist="0" blurRad="132260">
              <a:srgbClr val="5576B3">
                <a:alpha val="70000"/>
              </a:srgbClr>
            </a:outerShdw>
          </a:effectLst>
        </p:spPr>
      </p:pic>
      <p:sp>
        <p:nvSpPr>
          <p:cNvPr name="TextBox 3" id="3"/>
          <p:cNvSpPr txBox="true"/>
          <p:nvPr/>
        </p:nvSpPr>
        <p:spPr>
          <a:xfrm rot="0">
            <a:off x="20548600" y="2641600"/>
            <a:ext cx="3111500" cy="5207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F1F6FF">
                    <a:alpha val="50196"/>
                  </a:srgbClr>
                </a:solidFill>
                <a:latin typeface="Pretendard Regular"/>
                <a:ea typeface="Pretendard Regular"/>
                <a:cs typeface="Pretendard Regular"/>
              </a:rPr>
              <a:t>가설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015200" y="3810000"/>
            <a:ext cx="3581400" cy="2400300"/>
          </a:xfrm>
          <a:prstGeom prst="rect">
            <a:avLst/>
          </a:prstGeom>
          <a:effectLst>
            <a:outerShdw dir="5400000" dist="0" blurRad="132260">
              <a:srgbClr val="5576B3">
                <a:alpha val="70000"/>
              </a:srgbClr>
            </a:outerShdw>
          </a:effectLst>
        </p:spPr>
      </p:pic>
      <p:sp>
        <p:nvSpPr>
          <p:cNvPr name="TextBox 5" id="5"/>
          <p:cNvSpPr txBox="true"/>
          <p:nvPr/>
        </p:nvSpPr>
        <p:spPr>
          <a:xfrm rot="0">
            <a:off x="20548600" y="4533900"/>
            <a:ext cx="3111500" cy="5207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F1F6FF">
                    <a:alpha val="50196"/>
                  </a:srgbClr>
                </a:solidFill>
                <a:latin typeface="Pretendard Regular"/>
                <a:ea typeface="Pretendard Regular"/>
                <a:cs typeface="Pretendard Regular"/>
              </a:rPr>
              <a:t>단변량 분석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040600" y="9232900"/>
            <a:ext cx="3581400" cy="2400300"/>
          </a:xfrm>
          <a:prstGeom prst="rect">
            <a:avLst/>
          </a:prstGeom>
          <a:effectLst>
            <a:outerShdw dir="5400000" dist="0" blurRad="132260">
              <a:srgbClr val="5576B3">
                <a:alpha val="70000"/>
              </a:srgbClr>
            </a:outerShdw>
          </a:effectLst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015200" y="7543800"/>
            <a:ext cx="3581400" cy="2400300"/>
          </a:xfrm>
          <a:prstGeom prst="rect">
            <a:avLst/>
          </a:prstGeom>
          <a:effectLst>
            <a:outerShdw dir="5400000" dist="0" blurRad="132260">
              <a:srgbClr val="5576B3">
                <a:alpha val="70000"/>
              </a:srgbClr>
            </a:outerShdw>
          </a:effectLst>
        </p:spPr>
      </p:pic>
      <p:sp>
        <p:nvSpPr>
          <p:cNvPr name="TextBox 8" id="8"/>
          <p:cNvSpPr txBox="true"/>
          <p:nvPr/>
        </p:nvSpPr>
        <p:spPr>
          <a:xfrm rot="0">
            <a:off x="20472400" y="8534400"/>
            <a:ext cx="3111500" cy="8890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F1F6FF">
                    <a:alpha val="50196"/>
                  </a:srgbClr>
                </a:solidFill>
                <a:latin typeface="Pretendard Regular"/>
                <a:ea typeface="Pretendard Regular"/>
                <a:cs typeface="Pretendard Regular"/>
              </a:rPr>
              <a:t>딥러닝 그래프
성능평가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243800" y="5676900"/>
            <a:ext cx="3581400" cy="2362200"/>
          </a:xfrm>
          <a:prstGeom prst="rect">
            <a:avLst/>
          </a:prstGeom>
          <a:effectLst>
            <a:outerShdw dir="5400000" dist="0" blurRad="129795">
              <a:srgbClr val="718FC8">
                <a:alpha val="60000"/>
              </a:srgbClr>
            </a:outerShdw>
          </a:effectLst>
        </p:spPr>
      </p:pic>
      <p:sp>
        <p:nvSpPr>
          <p:cNvPr name="TextBox 10" id="10"/>
          <p:cNvSpPr txBox="true"/>
          <p:nvPr/>
        </p:nvSpPr>
        <p:spPr>
          <a:xfrm rot="0">
            <a:off x="20662900" y="6616700"/>
            <a:ext cx="2921000" cy="5207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5576B3"/>
                </a:solidFill>
                <a:latin typeface="Pretendard Bold"/>
                <a:ea typeface="Pretendard Bold"/>
                <a:cs typeface="Pretendard Bold"/>
              </a:rPr>
              <a:t>이변량 분석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497800" y="10604500"/>
            <a:ext cx="3111500" cy="5207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F1F6FF">
                    <a:alpha val="50196"/>
                  </a:srgbClr>
                </a:solidFill>
                <a:latin typeface="Pretendard Regular"/>
                <a:ea typeface="Pretendard Regular"/>
                <a:cs typeface="Pretendard Regular"/>
              </a:rPr>
              <a:t>결과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0" y="0"/>
            <a:ext cx="20548600" cy="137160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21628100" y="12268200"/>
            <a:ext cx="2197100" cy="571500"/>
          </a:xfrm>
          <a:prstGeom prst="rect">
            <a:avLst/>
          </a:prstGeom>
        </p:spPr>
        <p:txBody>
          <a:bodyPr anchor="ctr" rtlCol="false" lIns="0" tIns="40639" rIns="0" bIns="40639"/>
          <a:lstStyle/>
          <a:p>
            <a:pPr algn="r" lvl="0">
              <a:lnSpc>
                <a:spcPct val="99600"/>
              </a:lnSpc>
            </a:pPr>
            <a:r>
              <a:rPr lang="en-US" sz="3199" b="false" i="false" u="none" strike="noStrike">
                <a:solidFill>
                  <a:srgbClr val="FFFFFF">
                    <a:alpha val="70196"/>
                  </a:srgbClr>
                </a:solidFill>
                <a:latin typeface="Pretendard Bold"/>
                <a:ea typeface="Pretendard Bold"/>
                <a:cs typeface="Pretendard Bold"/>
              </a:rPr>
              <a:t>AIVLE AIR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alphaModFix amt="70000"/>
          </a:blip>
          <a:stretch>
            <a:fillRect/>
          </a:stretch>
        </p:blipFill>
        <p:spPr>
          <a:xfrm rot="2700000">
            <a:off x="21247100" y="12268200"/>
            <a:ext cx="558800" cy="5588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20510500" y="749300"/>
            <a:ext cx="3911600" cy="330200"/>
          </a:xfrm>
          <a:prstGeom prst="rect">
            <a:avLst/>
          </a:prstGeom>
        </p:spPr>
        <p:txBody>
          <a:bodyPr anchor="ctr" rtlCol="false" lIns="0" tIns="23706" rIns="0" bIns="23706"/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Mini Project01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151100" y="2667000"/>
            <a:ext cx="5397500" cy="110236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12700" y="2667000"/>
            <a:ext cx="15151100" cy="11366500"/>
          </a:xfrm>
          <a:prstGeom prst="rect">
            <a:avLst/>
          </a:prstGeom>
        </p:spPr>
      </p:pic>
      <p:graphicFrame>
        <p:nvGraphicFramePr>
          <p:cNvPr name="Table 18" id="18"/>
          <p:cNvGraphicFramePr>
            <a:graphicFrameLocks noGrp="true"/>
          </p:cNvGraphicFramePr>
          <p:nvPr/>
        </p:nvGraphicFramePr>
        <p:xfrm>
          <a:off x="7937500" y="8331200"/>
          <a:ext cx="12471400" cy="5245100"/>
        </p:xfrm>
        <a:graphic>
          <a:graphicData uri="http://schemas.openxmlformats.org/drawingml/2006/table">
            <a:tbl>
              <a:tblPr/>
              <a:tblGrid>
                <a:gridCol w="2152978"/>
                <a:gridCol w="3530808"/>
                <a:gridCol w="3628778"/>
                <a:gridCol w="3158285"/>
              </a:tblGrid>
              <a:tr h="1439718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966" b="false" i="false" u="none" strike="noStrike">
                          <a:solidFill>
                            <a:srgbClr val="FFFFFF"/>
                          </a:solidFill>
                          <a:latin typeface="NanumSquare ExtraBold"/>
                          <a:ea typeface="NanumSquare ExtraBold"/>
                          <a:cs typeface="NanumSquare ExtraBold"/>
                        </a:rPr>
                        <a:t>카이제곱 검정</a:t>
                      </a:r>
                      <a:endParaRPr lang="en-US" sz="1100"/>
                    </a:p>
                  </a:txBody>
                  <a:tcPr anchor="ctr" marL="25400" marT="25400" marR="25400" marB="2540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96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966" b="false" i="false" u="none" strike="noStrike">
                          <a:solidFill>
                            <a:srgbClr val="FFFFFF"/>
                          </a:solidFill>
                          <a:latin typeface="NanumSquare ExtraBold"/>
                          <a:ea typeface="NanumSquare ExtraBold"/>
                          <a:cs typeface="NanumSquare ExtraBold"/>
                        </a:rPr>
                        <a:t>Business Travel/
Disloyal
Customer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96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966" b="false" i="false" u="none" strike="noStrike">
                          <a:solidFill>
                            <a:srgbClr val="FFFFFF"/>
                          </a:solidFill>
                          <a:latin typeface="NanumSquare ExtraBold"/>
                          <a:ea typeface="NanumSquare ExtraBold"/>
                          <a:cs typeface="NanumSquare ExtraBold"/>
                        </a:rPr>
                        <a:t>Satisfied/
Disloyal Customer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96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966" b="false" i="false" u="none" strike="noStrike">
                          <a:solidFill>
                            <a:srgbClr val="FFFFFF"/>
                          </a:solidFill>
                          <a:latin typeface="NanumSquare ExtraBold"/>
                          <a:ea typeface="NanumSquare ExtraBold"/>
                          <a:cs typeface="NanumSquare ExtraBold"/>
                        </a:rPr>
                        <a:t>Business Travel/
Satisfied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96D7"/>
                    </a:solidFill>
                  </a:tcPr>
                </a:tc>
              </a:tr>
              <a:tr h="866377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66" b="false" i="false" u="none" strike="noStrike">
                          <a:solidFill>
                            <a:srgbClr val="8896D7"/>
                          </a:solidFill>
                          <a:latin typeface="NanumSquare Regular"/>
                          <a:ea typeface="NanumSquare Regular"/>
                          <a:cs typeface="NanumSquare Regular"/>
                        </a:rPr>
                        <a:t>카이제곱 통계량</a:t>
                      </a:r>
                      <a:endParaRPr lang="en-US" sz="1100"/>
                    </a:p>
                  </a:txBody>
                  <a:tcPr anchor="ctr" marL="25400" marT="25400" marR="25400" marB="2540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66" b="false" i="false" u="none" strike="noStrike">
                          <a:solidFill>
                            <a:srgbClr val="8896D7"/>
                          </a:solidFill>
                          <a:latin typeface="NanumSquare Regular"/>
                          <a:ea typeface="NanumSquare Regular"/>
                          <a:cs typeface="NanumSquare Regular"/>
                        </a:rPr>
                        <a:t>845.7175817624765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66" b="false" i="false" u="none" strike="noStrike">
                          <a:solidFill>
                            <a:srgbClr val="8896D7"/>
                          </a:solidFill>
                          <a:latin typeface="NanumSquare Regular"/>
                          <a:ea typeface="NanumSquare Regular"/>
                          <a:cs typeface="NanumSquare Regular"/>
                        </a:rPr>
                        <a:t>1667.4008905089256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66" b="false" i="false" u="none" strike="noStrike">
                          <a:solidFill>
                            <a:srgbClr val="8896D7"/>
                          </a:solidFill>
                          <a:latin typeface="NanumSquare Regular"/>
                          <a:ea typeface="NanumSquare Regular"/>
                          <a:cs typeface="NanumSquare Regular"/>
                        </a:rPr>
                        <a:t>195.99296455240997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F"/>
                    </a:solidFill>
                  </a:tcPr>
                </a:tc>
              </a:tr>
              <a:tr h="618119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66" b="false" i="false" u="none" strike="noStrike">
                          <a:solidFill>
                            <a:srgbClr val="8896D7"/>
                          </a:solidFill>
                          <a:latin typeface="NanumSquare Regular"/>
                          <a:ea typeface="NanumSquare Regular"/>
                          <a:cs typeface="NanumSquare Regular"/>
                        </a:rPr>
                        <a:t>p-value</a:t>
                      </a:r>
                      <a:endParaRPr lang="en-US" sz="1100"/>
                    </a:p>
                  </a:txBody>
                  <a:tcPr anchor="ctr" marL="25400" marT="25400" marR="25400" marB="2540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66" b="false" i="false" u="none" strike="noStrike">
                          <a:solidFill>
                            <a:srgbClr val="8896D7"/>
                          </a:solidFill>
                          <a:latin typeface="NanumSquare Regular"/>
                          <a:ea typeface="NanumSquare Regular"/>
                          <a:cs typeface="NanumSquare Regular"/>
                        </a:rPr>
                        <a:t>2.2633957496023792e-184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66" b="false" i="false" u="none" strike="noStrike">
                          <a:solidFill>
                            <a:srgbClr val="8896D7"/>
                          </a:solidFill>
                          <a:latin typeface="NanumSquare Regular"/>
                          <a:ea typeface="NanumSquare Regular"/>
                          <a:cs typeface="NanumSquare Regular"/>
                        </a:rPr>
                        <a:t>0.0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66" b="false" i="false" u="none" strike="noStrike">
                          <a:solidFill>
                            <a:srgbClr val="8896D7"/>
                          </a:solidFill>
                          <a:latin typeface="NanumSquare Regular"/>
                          <a:ea typeface="NanumSquare Regular"/>
                          <a:cs typeface="NanumSquare Regular"/>
                        </a:rPr>
                        <a:t>2.7584715015558143e-43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F"/>
                    </a:solidFill>
                  </a:tcPr>
                </a:tc>
              </a:tr>
              <a:tr h="2321433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66" b="false" i="false" u="none" strike="noStrike">
                          <a:solidFill>
                            <a:srgbClr val="8896D7"/>
                          </a:solidFill>
                          <a:latin typeface="NanumSquare Regular"/>
                          <a:ea typeface="NanumSquare Regular"/>
                          <a:cs typeface="NanumSquare Regular"/>
                        </a:rPr>
                        <a:t>기대 빈도</a:t>
                      </a:r>
                      <a:endParaRPr lang="en-US" sz="1100"/>
                    </a:p>
                  </a:txBody>
                  <a:tcPr anchor="ctr" marL="25400" marT="25400" marR="25400" marB="2540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66" b="false" i="false" u="none" strike="noStrike">
                          <a:solidFill>
                            <a:srgbClr val="8896D7"/>
                          </a:solidFill>
                          <a:latin typeface="NanumSquare Regular"/>
                          <a:ea typeface="NanumSquare Regular"/>
                          <a:cs typeface="NanumSquare Regular"/>
                        </a:rPr>
                        <a:t> [[3005.75801333  725.24198667]
 [1762.69057442  425.30942558]
 [ 308.55141225   74.44858775]]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66" b="false" i="false" u="none" strike="noStrike">
                          <a:solidFill>
                            <a:srgbClr val="8896D7"/>
                          </a:solidFill>
                          <a:latin typeface="NanumSquare Regular"/>
                          <a:ea typeface="NanumSquare Regular"/>
                          <a:cs typeface="NanumSquare Regular"/>
                        </a:rPr>
                        <a:t>[[3050.75261822  680.24738178]
 [1789.07711838  398.92288162]
 [ 313.17026341   69.82973659]]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66" b="false" i="false" u="none" strike="noStrike">
                          <a:solidFill>
                            <a:srgbClr val="8896D7"/>
                          </a:solidFill>
                          <a:latin typeface="NanumSquare Regular"/>
                          <a:ea typeface="NanumSquare Regular"/>
                          <a:cs typeface="NanumSquare Regular"/>
                        </a:rPr>
                        <a:t>[[1004.68216439 2726.31783561]
 [ 589.18375119 1598.81624881]
 [ 103.13408442  279.86591558]]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F"/>
                    </a:solidFill>
                  </a:tcPr>
                </a:tc>
              </a:tr>
            </a:tbl>
          </a:graphicData>
        </a:graphic>
      </p:graphicFrame>
      <p:sp>
        <p:nvSpPr>
          <p:cNvPr name="TextBox 19" id="19"/>
          <p:cNvSpPr txBox="true"/>
          <p:nvPr/>
        </p:nvSpPr>
        <p:spPr>
          <a:xfrm rot="0">
            <a:off x="482600" y="4114800"/>
            <a:ext cx="3594100" cy="2298700"/>
          </a:xfrm>
          <a:prstGeom prst="rect">
            <a:avLst/>
          </a:prstGeom>
        </p:spPr>
        <p:txBody>
          <a:bodyPr anchor="ctr" rtlCol="false" lIns="0" tIns="46012" rIns="0" bIns="46012"/>
          <a:lstStyle/>
          <a:p>
            <a:pPr algn="ctr" lvl="0">
              <a:lnSpc>
                <a:spcPct val="99600"/>
              </a:lnSpc>
            </a:pPr>
            <a:r>
              <a:rPr lang="en-US" sz="3623" b="false" i="false" u="none" strike="noStrike">
                <a:solidFill>
                  <a:srgbClr val="FFFFFF"/>
                </a:solidFill>
                <a:highlight>
                  <a:srgbClr val="D72828"/>
                </a:highlight>
                <a:latin typeface="Pretendard Bold"/>
                <a:ea typeface="Pretendard Bold"/>
                <a:cs typeface="Pretendard Bold"/>
              </a:rPr>
              <a:t>Business Travel/
loyal
Customer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82600" y="10350500"/>
            <a:ext cx="3594100" cy="1752600"/>
          </a:xfrm>
          <a:prstGeom prst="rect">
            <a:avLst/>
          </a:prstGeom>
        </p:spPr>
        <p:txBody>
          <a:bodyPr anchor="ctr" rtlCol="false" lIns="0" tIns="46012" rIns="0" bIns="46012"/>
          <a:lstStyle/>
          <a:p>
            <a:pPr algn="ctr" lvl="0">
              <a:lnSpc>
                <a:spcPct val="99600"/>
              </a:lnSpc>
            </a:pPr>
            <a:r>
              <a:rPr lang="en-US" sz="3623" b="false" i="false" u="none" strike="noStrike">
                <a:solidFill>
                  <a:srgbClr val="FFFFFF"/>
                </a:solidFill>
                <a:highlight>
                  <a:srgbClr val="2077B5"/>
                </a:highlight>
                <a:latin typeface="Pretendard Bold"/>
                <a:ea typeface="Pretendard Bold"/>
                <a:cs typeface="Pretendard Bold"/>
              </a:rPr>
              <a:t>Business Travel/
Satisfied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382000" y="4686300"/>
            <a:ext cx="3594100" cy="1193800"/>
          </a:xfrm>
          <a:prstGeom prst="rect">
            <a:avLst/>
          </a:prstGeom>
        </p:spPr>
        <p:txBody>
          <a:bodyPr anchor="ctr" rtlCol="false" lIns="0" tIns="46012" rIns="0" bIns="46012"/>
          <a:lstStyle/>
          <a:p>
            <a:pPr algn="ctr" lvl="0">
              <a:lnSpc>
                <a:spcPct val="99600"/>
              </a:lnSpc>
            </a:pPr>
            <a:r>
              <a:rPr lang="en-US" sz="3623" b="false" i="false" u="none" strike="noStrike">
                <a:solidFill>
                  <a:srgbClr val="FFFFFF"/>
                </a:solidFill>
                <a:highlight>
                  <a:srgbClr val="D72828"/>
                </a:highlight>
                <a:latin typeface="Pretendard Bold"/>
                <a:ea typeface="Pretendard Bold"/>
                <a:cs typeface="Pretendard Bold"/>
              </a:rPr>
              <a:t>Satisfied/
loyal Customer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5200" y="1079500"/>
            <a:ext cx="5359400" cy="1181100"/>
          </a:xfrm>
          <a:prstGeom prst="rect">
            <a:avLst/>
          </a:prstGeom>
        </p:spPr>
        <p:txBody>
          <a:bodyPr anchor="ctr" rtlCol="false" lIns="0" tIns="84665" rIns="0" bIns="84665"/>
          <a:lstStyle/>
          <a:p>
            <a:pPr algn="l" lvl="0">
              <a:lnSpc>
                <a:spcPct val="99600"/>
              </a:lnSpc>
            </a:pPr>
            <a:r>
              <a:rPr lang="en-US" sz="6666" b="false" i="false" u="none" strike="noStrike">
                <a:solidFill>
                  <a:srgbClr val="5576B3"/>
                </a:solidFill>
                <a:latin typeface="Pretendard ExtraBold"/>
                <a:ea typeface="Pretendard ExtraBold"/>
                <a:cs typeface="Pretendard ExtraBold"/>
              </a:rPr>
              <a:t>Analysis2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95400" y="2197100"/>
            <a:ext cx="4851400" cy="469900"/>
          </a:xfrm>
          <a:prstGeom prst="rect">
            <a:avLst/>
          </a:prstGeom>
        </p:spPr>
        <p:txBody>
          <a:bodyPr anchor="ctr" rtlCol="false" lIns="0" tIns="33866" rIns="0" bIns="33866"/>
          <a:lstStyle/>
          <a:p>
            <a:pPr algn="l" lvl="0">
              <a:lnSpc>
                <a:spcPct val="99600"/>
              </a:lnSpc>
            </a:pPr>
            <a:r>
              <a:rPr lang="en-US" sz="2666" b="false" i="false" u="none" strike="noStrike">
                <a:solidFill>
                  <a:srgbClr val="5576B3">
                    <a:alpha val="80000"/>
                  </a:srgbClr>
                </a:solidFill>
                <a:latin typeface="Pretendard Medium"/>
                <a:ea typeface="Pretendard Medium"/>
                <a:cs typeface="Pretendard Medium"/>
              </a:rPr>
              <a:t>이변량 분석 결과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8BB0F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015200" y="1905000"/>
            <a:ext cx="3581400" cy="2400300"/>
          </a:xfrm>
          <a:prstGeom prst="rect">
            <a:avLst/>
          </a:prstGeom>
          <a:effectLst>
            <a:outerShdw dir="5400000" dist="0" blurRad="132260">
              <a:srgbClr val="5576B3">
                <a:alpha val="70000"/>
              </a:srgbClr>
            </a:outerShdw>
          </a:effectLst>
        </p:spPr>
      </p:pic>
      <p:sp>
        <p:nvSpPr>
          <p:cNvPr name="TextBox 3" id="3"/>
          <p:cNvSpPr txBox="true"/>
          <p:nvPr/>
        </p:nvSpPr>
        <p:spPr>
          <a:xfrm rot="0">
            <a:off x="20548600" y="2641600"/>
            <a:ext cx="3111500" cy="5207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F1F6FF">
                    <a:alpha val="50196"/>
                  </a:srgbClr>
                </a:solidFill>
                <a:latin typeface="Pretendard Regular"/>
                <a:ea typeface="Pretendard Regular"/>
                <a:cs typeface="Pretendard Regular"/>
              </a:rPr>
              <a:t>가설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015200" y="3810000"/>
            <a:ext cx="3581400" cy="2400300"/>
          </a:xfrm>
          <a:prstGeom prst="rect">
            <a:avLst/>
          </a:prstGeom>
          <a:effectLst>
            <a:outerShdw dir="5400000" dist="0" blurRad="132260">
              <a:srgbClr val="5576B3">
                <a:alpha val="70000"/>
              </a:srgbClr>
            </a:outerShdw>
          </a:effectLst>
        </p:spPr>
      </p:pic>
      <p:sp>
        <p:nvSpPr>
          <p:cNvPr name="TextBox 5" id="5"/>
          <p:cNvSpPr txBox="true"/>
          <p:nvPr/>
        </p:nvSpPr>
        <p:spPr>
          <a:xfrm rot="0">
            <a:off x="20548600" y="4533900"/>
            <a:ext cx="3111500" cy="5207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F1F6FF">
                    <a:alpha val="50196"/>
                  </a:srgbClr>
                </a:solidFill>
                <a:latin typeface="Pretendard Regular"/>
                <a:ea typeface="Pretendard Regular"/>
                <a:cs typeface="Pretendard Regular"/>
              </a:rPr>
              <a:t>단변량 분석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040600" y="9232900"/>
            <a:ext cx="3581400" cy="2400300"/>
          </a:xfrm>
          <a:prstGeom prst="rect">
            <a:avLst/>
          </a:prstGeom>
          <a:effectLst>
            <a:outerShdw dir="5400000" dist="0" blurRad="132260">
              <a:srgbClr val="5576B3">
                <a:alpha val="70000"/>
              </a:srgbClr>
            </a:outerShdw>
          </a:effectLst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015200" y="7543800"/>
            <a:ext cx="3581400" cy="2400300"/>
          </a:xfrm>
          <a:prstGeom prst="rect">
            <a:avLst/>
          </a:prstGeom>
          <a:effectLst>
            <a:outerShdw dir="5400000" dist="0" blurRad="132260">
              <a:srgbClr val="5576B3">
                <a:alpha val="70000"/>
              </a:srgbClr>
            </a:outerShdw>
          </a:effectLst>
        </p:spPr>
      </p:pic>
      <p:sp>
        <p:nvSpPr>
          <p:cNvPr name="TextBox 8" id="8"/>
          <p:cNvSpPr txBox="true"/>
          <p:nvPr/>
        </p:nvSpPr>
        <p:spPr>
          <a:xfrm rot="0">
            <a:off x="20472400" y="8534400"/>
            <a:ext cx="3111500" cy="8890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F1F6FF">
                    <a:alpha val="50196"/>
                  </a:srgbClr>
                </a:solidFill>
                <a:latin typeface="Pretendard Regular"/>
                <a:ea typeface="Pretendard Regular"/>
                <a:cs typeface="Pretendard Regular"/>
              </a:rPr>
              <a:t>딥러닝 그래프
성능평가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243800" y="5676900"/>
            <a:ext cx="3581400" cy="2362200"/>
          </a:xfrm>
          <a:prstGeom prst="rect">
            <a:avLst/>
          </a:prstGeom>
          <a:effectLst>
            <a:outerShdw dir="5400000" dist="0" blurRad="129795">
              <a:srgbClr val="718FC8">
                <a:alpha val="60000"/>
              </a:srgbClr>
            </a:outerShdw>
          </a:effectLst>
        </p:spPr>
      </p:pic>
      <p:sp>
        <p:nvSpPr>
          <p:cNvPr name="TextBox 10" id="10"/>
          <p:cNvSpPr txBox="true"/>
          <p:nvPr/>
        </p:nvSpPr>
        <p:spPr>
          <a:xfrm rot="0">
            <a:off x="20662900" y="6616700"/>
            <a:ext cx="2921000" cy="5207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5576B3"/>
                </a:solidFill>
                <a:latin typeface="Pretendard Bold"/>
                <a:ea typeface="Pretendard Bold"/>
                <a:cs typeface="Pretendard Bold"/>
              </a:rPr>
              <a:t>이변량 분석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0" y="0"/>
            <a:ext cx="20548600" cy="137160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965200" y="1079500"/>
            <a:ext cx="5359400" cy="1181100"/>
          </a:xfrm>
          <a:prstGeom prst="rect">
            <a:avLst/>
          </a:prstGeom>
        </p:spPr>
        <p:txBody>
          <a:bodyPr anchor="ctr" rtlCol="false" lIns="0" tIns="84665" rIns="0" bIns="84665"/>
          <a:lstStyle/>
          <a:p>
            <a:pPr algn="l" lvl="0">
              <a:lnSpc>
                <a:spcPct val="99600"/>
              </a:lnSpc>
            </a:pPr>
            <a:r>
              <a:rPr lang="en-US" sz="6666" b="false" i="false" u="none" strike="noStrike">
                <a:solidFill>
                  <a:srgbClr val="5576B3"/>
                </a:solidFill>
                <a:latin typeface="Pretendard ExtraBold"/>
                <a:ea typeface="Pretendard ExtraBold"/>
                <a:cs typeface="Pretendard ExtraBold"/>
              </a:rPr>
              <a:t>Analysis2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95400" y="2197100"/>
            <a:ext cx="4851400" cy="469900"/>
          </a:xfrm>
          <a:prstGeom prst="rect">
            <a:avLst/>
          </a:prstGeom>
        </p:spPr>
        <p:txBody>
          <a:bodyPr anchor="ctr" rtlCol="false" lIns="0" tIns="33866" rIns="0" bIns="33866"/>
          <a:lstStyle/>
          <a:p>
            <a:pPr algn="l" lvl="0">
              <a:lnSpc>
                <a:spcPct val="99600"/>
              </a:lnSpc>
            </a:pPr>
            <a:r>
              <a:rPr lang="en-US" sz="2666" b="false" i="false" u="none" strike="noStrike">
                <a:solidFill>
                  <a:srgbClr val="5576B3">
                    <a:alpha val="80000"/>
                  </a:srgbClr>
                </a:solidFill>
                <a:latin typeface="Pretendard Medium"/>
                <a:ea typeface="Pretendard Medium"/>
                <a:cs typeface="Pretendard Medium"/>
              </a:rPr>
              <a:t>이변량 분석 결과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628100" y="12268200"/>
            <a:ext cx="2197100" cy="571500"/>
          </a:xfrm>
          <a:prstGeom prst="rect">
            <a:avLst/>
          </a:prstGeom>
        </p:spPr>
        <p:txBody>
          <a:bodyPr anchor="ctr" rtlCol="false" lIns="0" tIns="40639" rIns="0" bIns="40639"/>
          <a:lstStyle/>
          <a:p>
            <a:pPr algn="r" lvl="0">
              <a:lnSpc>
                <a:spcPct val="99600"/>
              </a:lnSpc>
            </a:pPr>
            <a:r>
              <a:rPr lang="en-US" sz="3199" b="false" i="false" u="none" strike="noStrike">
                <a:solidFill>
                  <a:srgbClr val="FFFFFF">
                    <a:alpha val="70196"/>
                  </a:srgbClr>
                </a:solidFill>
                <a:latin typeface="Pretendard Bold"/>
                <a:ea typeface="Pretendard Bold"/>
                <a:cs typeface="Pretendard Bold"/>
              </a:rPr>
              <a:t>AIVLE AIR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alphaModFix amt="70000"/>
          </a:blip>
          <a:stretch>
            <a:fillRect/>
          </a:stretch>
        </p:blipFill>
        <p:spPr>
          <a:xfrm rot="2700000">
            <a:off x="21247100" y="12268200"/>
            <a:ext cx="558800" cy="5588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20510500" y="749300"/>
            <a:ext cx="3911600" cy="330200"/>
          </a:xfrm>
          <a:prstGeom prst="rect">
            <a:avLst/>
          </a:prstGeom>
        </p:spPr>
        <p:txBody>
          <a:bodyPr anchor="ctr" rtlCol="false" lIns="0" tIns="23706" rIns="0" bIns="23706"/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Mini Project01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699500" y="4978400"/>
            <a:ext cx="3594100" cy="1193800"/>
          </a:xfrm>
          <a:prstGeom prst="rect">
            <a:avLst/>
          </a:prstGeom>
        </p:spPr>
        <p:txBody>
          <a:bodyPr anchor="ctr" rtlCol="false" lIns="0" tIns="46012" rIns="0" bIns="46012"/>
          <a:lstStyle/>
          <a:p>
            <a:pPr algn="ctr" lvl="0">
              <a:lnSpc>
                <a:spcPct val="99600"/>
              </a:lnSpc>
            </a:pPr>
            <a:r>
              <a:rPr lang="en-US" sz="3623" b="false" i="false" u="none" strike="noStrike">
                <a:solidFill>
                  <a:srgbClr val="FFFFFF"/>
                </a:solidFill>
                <a:highlight>
                  <a:srgbClr val="2077B5"/>
                </a:highlight>
                <a:latin typeface="Pretendard Bold"/>
                <a:ea typeface="Pretendard Bold"/>
                <a:cs typeface="Pretendard Bold"/>
              </a:rPr>
              <a:t>Business/
Business Travel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44500" y="2692400"/>
            <a:ext cx="14706600" cy="11023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151100" y="2667000"/>
            <a:ext cx="5397500" cy="110236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317500" y="4978400"/>
            <a:ext cx="3594100" cy="1193800"/>
          </a:xfrm>
          <a:prstGeom prst="rect">
            <a:avLst/>
          </a:prstGeom>
        </p:spPr>
        <p:txBody>
          <a:bodyPr anchor="ctr" rtlCol="false" lIns="0" tIns="46012" rIns="0" bIns="46012"/>
          <a:lstStyle/>
          <a:p>
            <a:pPr algn="ctr" lvl="0">
              <a:lnSpc>
                <a:spcPct val="99600"/>
              </a:lnSpc>
            </a:pPr>
            <a:r>
              <a:rPr lang="en-US" sz="3623" b="false" i="false" u="none" strike="noStrike">
                <a:solidFill>
                  <a:srgbClr val="FFFFFF"/>
                </a:solidFill>
                <a:highlight>
                  <a:srgbClr val="2077B5"/>
                </a:highlight>
                <a:latin typeface="Pretendard Bold"/>
                <a:ea typeface="Pretendard Bold"/>
                <a:cs typeface="Pretendard Bold"/>
              </a:rPr>
              <a:t>Business/
Satisfied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7800" y="9563100"/>
            <a:ext cx="3860800" cy="1752600"/>
          </a:xfrm>
          <a:prstGeom prst="rect">
            <a:avLst/>
          </a:prstGeom>
        </p:spPr>
        <p:txBody>
          <a:bodyPr anchor="ctr" rtlCol="false" lIns="0" tIns="46012" rIns="0" bIns="46012"/>
          <a:lstStyle/>
          <a:p>
            <a:pPr algn="ctr" lvl="0">
              <a:lnSpc>
                <a:spcPct val="99600"/>
              </a:lnSpc>
            </a:pPr>
            <a:r>
              <a:rPr lang="en-US" sz="3623" b="false" i="false" u="none" strike="noStrike">
                <a:solidFill>
                  <a:srgbClr val="FFFFFF"/>
                </a:solidFill>
                <a:highlight>
                  <a:srgbClr val="2CA02C"/>
                </a:highlight>
                <a:latin typeface="Pretendard Bold"/>
                <a:ea typeface="Pretendard Bold"/>
                <a:cs typeface="Pretendard Bold"/>
              </a:rPr>
              <a:t>Business/
loyal</a:t>
            </a:r>
          </a:p>
          <a:p>
            <a:pPr algn="ctr" lvl="0">
              <a:lnSpc>
                <a:spcPct val="99600"/>
              </a:lnSpc>
            </a:pPr>
            <a:r>
              <a:rPr lang="en-US" sz="3623" b="false" i="false" u="none" strike="noStrike">
                <a:solidFill>
                  <a:srgbClr val="FFFFFF"/>
                </a:solidFill>
                <a:highlight>
                  <a:srgbClr val="2CA02C"/>
                </a:highlight>
                <a:latin typeface="Pretendard Bold"/>
                <a:ea typeface="Pretendard Bold"/>
                <a:cs typeface="Pretendard Bold"/>
              </a:rPr>
              <a:t>Customer</a:t>
            </a:r>
          </a:p>
        </p:txBody>
      </p:sp>
      <p:graphicFrame>
        <p:nvGraphicFramePr>
          <p:cNvPr name="Table 22" id="22"/>
          <p:cNvGraphicFramePr>
            <a:graphicFrameLocks noGrp="true"/>
          </p:cNvGraphicFramePr>
          <p:nvPr/>
        </p:nvGraphicFramePr>
        <p:xfrm>
          <a:off x="7937500" y="8178800"/>
          <a:ext cx="12471400" cy="5359400"/>
        </p:xfrm>
        <a:graphic>
          <a:graphicData uri="http://schemas.openxmlformats.org/drawingml/2006/table">
            <a:tbl>
              <a:tblPr/>
              <a:tblGrid>
                <a:gridCol w="2152978"/>
                <a:gridCol w="3530808"/>
                <a:gridCol w="3628778"/>
                <a:gridCol w="3158285"/>
              </a:tblGrid>
              <a:tr h="1471893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966" b="false" i="false" u="none" strike="noStrike">
                          <a:solidFill>
                            <a:srgbClr val="FFFFFF"/>
                          </a:solidFill>
                          <a:latin typeface="NanumSquare ExtraBold"/>
                          <a:ea typeface="NanumSquare ExtraBold"/>
                          <a:cs typeface="NanumSquare ExtraBold"/>
                        </a:rPr>
                        <a:t>카이제곱 검정</a:t>
                      </a:r>
                      <a:endParaRPr lang="en-US" sz="1100"/>
                    </a:p>
                  </a:txBody>
                  <a:tcPr anchor="ctr" marL="25400" marT="25400" marR="25400" marB="2540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96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966" b="false" i="false" u="none" strike="noStrike">
                          <a:solidFill>
                            <a:srgbClr val="FFFFFF"/>
                          </a:solidFill>
                          <a:latin typeface="NanumSquare ExtraBold"/>
                          <a:ea typeface="NanumSquare ExtraBold"/>
                          <a:cs typeface="NanumSquare ExtraBold"/>
                        </a:rPr>
                        <a:t>Class/Satisfaction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96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966" b="false" i="false" u="none" strike="noStrike">
                          <a:solidFill>
                            <a:srgbClr val="FFFFFF"/>
                          </a:solidFill>
                          <a:latin typeface="NanumSquare ExtraBold"/>
                          <a:ea typeface="NanumSquare ExtraBold"/>
                          <a:cs typeface="NanumSquare ExtraBold"/>
                        </a:rPr>
                        <a:t>Class/Type of Travel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96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966" b="false" i="false" u="none" strike="noStrike">
                          <a:solidFill>
                            <a:srgbClr val="FFFFFF"/>
                          </a:solidFill>
                          <a:latin typeface="NanumSquare ExtraBold"/>
                          <a:ea typeface="NanumSquare ExtraBold"/>
                          <a:cs typeface="NanumSquare ExtraBold"/>
                        </a:rPr>
                        <a:t>Class/Customer Type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96D7"/>
                    </a:solidFill>
                  </a:tcPr>
                </a:tc>
              </a:tr>
              <a:tr h="885739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66" b="false" i="false" u="none" strike="noStrike">
                          <a:solidFill>
                            <a:srgbClr val="8896D7"/>
                          </a:solidFill>
                          <a:latin typeface="NanumSquare Regular"/>
                          <a:ea typeface="NanumSquare Regular"/>
                          <a:cs typeface="NanumSquare Regular"/>
                        </a:rPr>
                        <a:t>카이제곱 통계량</a:t>
                      </a:r>
                      <a:endParaRPr lang="en-US" sz="1100"/>
                    </a:p>
                  </a:txBody>
                  <a:tcPr anchor="ctr" marL="25400" marT="25400" marR="25400" marB="2540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66" b="false" i="false" u="none" strike="noStrike">
                          <a:solidFill>
                            <a:srgbClr val="8896D7"/>
                          </a:solidFill>
                          <a:latin typeface="NanumSquare Regular"/>
                          <a:ea typeface="NanumSquare Regular"/>
                          <a:cs typeface="NanumSquare Regular"/>
                        </a:rPr>
                        <a:t>2836.9007670820297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66" b="false" i="false" u="none" strike="noStrike">
                          <a:solidFill>
                            <a:srgbClr val="8896D7"/>
                          </a:solidFill>
                          <a:latin typeface="NanumSquare Regular"/>
                          <a:ea typeface="NanumSquare Regular"/>
                          <a:cs typeface="NanumSquare Regular"/>
                        </a:rPr>
                        <a:t>5796.262214688716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66" b="false" i="false" u="none" strike="noStrike">
                          <a:solidFill>
                            <a:srgbClr val="8896D7"/>
                          </a:solidFill>
                          <a:latin typeface="NanumSquare Regular"/>
                          <a:ea typeface="NanumSquare Regular"/>
                          <a:cs typeface="NanumSquare Regular"/>
                        </a:rPr>
                        <a:t>419.9812614180289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F"/>
                    </a:solidFill>
                  </a:tcPr>
                </a:tc>
              </a:tr>
              <a:tr h="631933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66" b="false" i="false" u="none" strike="noStrike">
                          <a:solidFill>
                            <a:srgbClr val="8896D7"/>
                          </a:solidFill>
                          <a:latin typeface="NanumSquare Regular"/>
                          <a:ea typeface="NanumSquare Regular"/>
                          <a:cs typeface="NanumSquare Regular"/>
                        </a:rPr>
                        <a:t>p-value</a:t>
                      </a:r>
                      <a:endParaRPr lang="en-US" sz="1100"/>
                    </a:p>
                  </a:txBody>
                  <a:tcPr anchor="ctr" marL="25400" marT="25400" marR="25400" marB="2540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66" b="false" i="false" u="none" strike="noStrike">
                          <a:solidFill>
                            <a:srgbClr val="8896D7"/>
                          </a:solidFill>
                          <a:latin typeface="NanumSquare Regular"/>
                          <a:ea typeface="NanumSquare Regular"/>
                          <a:cs typeface="NanumSquare Regular"/>
                        </a:rPr>
                        <a:t>0.0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66" b="false" i="false" u="none" strike="noStrike">
                          <a:solidFill>
                            <a:srgbClr val="8896D7"/>
                          </a:solidFill>
                          <a:latin typeface="NanumSquare Regular"/>
                          <a:ea typeface="NanumSquare Regular"/>
                          <a:cs typeface="NanumSquare Regular"/>
                        </a:rPr>
                        <a:t>0.0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66" b="false" i="false" u="none" strike="noStrike">
                          <a:solidFill>
                            <a:srgbClr val="8896D7"/>
                          </a:solidFill>
                          <a:latin typeface="NanumSquare Regular"/>
                          <a:ea typeface="NanumSquare Regular"/>
                          <a:cs typeface="NanumSquare Regular"/>
                        </a:rPr>
                        <a:t>6.342023277222322e-92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F"/>
                    </a:solidFill>
                  </a:tcPr>
                </a:tc>
              </a:tr>
              <a:tr h="2373313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66" b="false" i="false" u="none" strike="noStrike">
                          <a:solidFill>
                            <a:srgbClr val="8896D7"/>
                          </a:solidFill>
                          <a:latin typeface="NanumSquare Regular"/>
                          <a:ea typeface="NanumSquare Regular"/>
                          <a:cs typeface="NanumSquare Regular"/>
                        </a:rPr>
                        <a:t>기대 빈도</a:t>
                      </a:r>
                      <a:endParaRPr lang="en-US" sz="1100"/>
                    </a:p>
                  </a:txBody>
                  <a:tcPr anchor="ctr" marL="25400" marT="25400" marR="25400" marB="2540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66" b="false" i="false" u="none" strike="noStrike">
                          <a:solidFill>
                            <a:srgbClr val="8896D7"/>
                          </a:solidFill>
                          <a:latin typeface="NanumSquare Regular"/>
                          <a:ea typeface="NanumSquare Regular"/>
                          <a:cs typeface="NanumSquare Regular"/>
                        </a:rPr>
                        <a:t>[[12525.1070417   1852.8929583 ]
 [ 4480.22155484   662.77844516]
 [  833.67140346   123.32859654]]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66" b="false" i="false" u="none" strike="noStrike">
                          <a:solidFill>
                            <a:srgbClr val="8896D7"/>
                          </a:solidFill>
                          <a:latin typeface="NanumSquare Regular"/>
                          <a:ea typeface="NanumSquare Regular"/>
                          <a:cs typeface="NanumSquare Regular"/>
                        </a:rPr>
                        <a:t>[[12562.31936713  1815.68063287]
 [ 4493.53237621   649.46762379]
 [  836.14825667   120.85174333]]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66" b="false" i="false" u="none" strike="noStrike">
                          <a:solidFill>
                            <a:srgbClr val="8896D7"/>
                          </a:solidFill>
                          <a:latin typeface="NanumSquare Regular"/>
                          <a:ea typeface="NanumSquare Regular"/>
                          <a:cs typeface="NanumSquare Regular"/>
                        </a:rPr>
                        <a:t>[[ 1673.85252466 12704.14747534]
 [  598.73581404  4544.26418596]
 [  111.4116613    845.5883387 ]]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8896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F"/>
                    </a:solidFill>
                  </a:tcPr>
                </a:tc>
              </a:tr>
            </a:tbl>
          </a:graphicData>
        </a:graphic>
      </p:graphicFrame>
      <p:sp>
        <p:nvSpPr>
          <p:cNvPr name="TextBox 23" id="23"/>
          <p:cNvSpPr txBox="true"/>
          <p:nvPr/>
        </p:nvSpPr>
        <p:spPr>
          <a:xfrm rot="0">
            <a:off x="7861300" y="4699000"/>
            <a:ext cx="3263900" cy="1752600"/>
          </a:xfrm>
          <a:prstGeom prst="rect">
            <a:avLst/>
          </a:prstGeom>
        </p:spPr>
        <p:txBody>
          <a:bodyPr anchor="ctr" rtlCol="false" lIns="0" tIns="46012" rIns="0" bIns="46012"/>
          <a:lstStyle/>
          <a:p>
            <a:pPr algn="ctr" lvl="0">
              <a:lnSpc>
                <a:spcPct val="99600"/>
              </a:lnSpc>
            </a:pPr>
            <a:r>
              <a:rPr lang="en-US" sz="3623" b="false" i="false" u="none" strike="noStrike">
                <a:solidFill>
                  <a:srgbClr val="FFFFFF"/>
                </a:solidFill>
                <a:highlight>
                  <a:srgbClr val="2077B5"/>
                </a:highlight>
                <a:latin typeface="Pretendard Bold"/>
                <a:ea typeface="Pretendard Bold"/>
                <a:cs typeface="Pretendard Bold"/>
              </a:rPr>
              <a:t>Business/
Business Travel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0497800" y="10604500"/>
            <a:ext cx="3111500" cy="5207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F1F6FF">
                    <a:alpha val="50196"/>
                  </a:srgbClr>
                </a:solidFill>
                <a:latin typeface="Pretendard Regular"/>
                <a:ea typeface="Pretendard Regular"/>
                <a:cs typeface="Pretendard Regular"/>
              </a:rPr>
              <a:t>결과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8BB0F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 rot="2700000">
            <a:off x="21247100" y="12268200"/>
            <a:ext cx="558800" cy="558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015200" y="9334500"/>
            <a:ext cx="3581400" cy="2400300"/>
          </a:xfrm>
          <a:prstGeom prst="rect">
            <a:avLst/>
          </a:prstGeom>
          <a:effectLst>
            <a:outerShdw dir="5400000" dist="0" blurRad="132260">
              <a:srgbClr val="5576B3">
                <a:alpha val="70000"/>
              </a:srgbClr>
            </a:outerShdw>
          </a:effectLst>
        </p:spPr>
      </p:pic>
      <p:sp>
        <p:nvSpPr>
          <p:cNvPr name="TextBox 4" id="4"/>
          <p:cNvSpPr txBox="true"/>
          <p:nvPr/>
        </p:nvSpPr>
        <p:spPr>
          <a:xfrm rot="0">
            <a:off x="20548600" y="10477500"/>
            <a:ext cx="3111500" cy="5207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F1F6FF">
                    <a:alpha val="50196"/>
                  </a:srgbClr>
                </a:solidFill>
                <a:latin typeface="Pretendard Regular"/>
                <a:ea typeface="Pretendard Regular"/>
                <a:cs typeface="Pretendard Regular"/>
              </a:rPr>
              <a:t>결과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015200" y="1905000"/>
            <a:ext cx="3581400" cy="2400300"/>
          </a:xfrm>
          <a:prstGeom prst="rect">
            <a:avLst/>
          </a:prstGeom>
          <a:effectLst>
            <a:outerShdw dir="5400000" dist="0" blurRad="132260">
              <a:srgbClr val="5576B3">
                <a:alpha val="70000"/>
              </a:srgbClr>
            </a:outerShdw>
          </a:effectLst>
        </p:spPr>
      </p:pic>
      <p:sp>
        <p:nvSpPr>
          <p:cNvPr name="TextBox 6" id="6"/>
          <p:cNvSpPr txBox="true"/>
          <p:nvPr/>
        </p:nvSpPr>
        <p:spPr>
          <a:xfrm rot="0">
            <a:off x="20548600" y="2641600"/>
            <a:ext cx="3111500" cy="5207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F1F6FF">
                    <a:alpha val="50196"/>
                  </a:srgbClr>
                </a:solidFill>
                <a:latin typeface="Pretendard Regular"/>
                <a:ea typeface="Pretendard Regular"/>
                <a:cs typeface="Pretendard Regular"/>
              </a:rPr>
              <a:t>가설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015200" y="3810000"/>
            <a:ext cx="3581400" cy="2400300"/>
          </a:xfrm>
          <a:prstGeom prst="rect">
            <a:avLst/>
          </a:prstGeom>
          <a:effectLst>
            <a:outerShdw dir="5400000" dist="0" blurRad="132260">
              <a:srgbClr val="5576B3">
                <a:alpha val="70000"/>
              </a:srgbClr>
            </a:outerShdw>
          </a:effectLst>
        </p:spPr>
      </p:pic>
      <p:sp>
        <p:nvSpPr>
          <p:cNvPr name="TextBox 8" id="8"/>
          <p:cNvSpPr txBox="true"/>
          <p:nvPr/>
        </p:nvSpPr>
        <p:spPr>
          <a:xfrm rot="0">
            <a:off x="20548600" y="4533900"/>
            <a:ext cx="3111500" cy="5207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F1F6FF">
                    <a:alpha val="50196"/>
                  </a:srgbClr>
                </a:solidFill>
                <a:latin typeface="Pretendard Regular"/>
                <a:ea typeface="Pretendard Regular"/>
                <a:cs typeface="Pretendard Regular"/>
              </a:rPr>
              <a:t>단변량 분석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015200" y="5689600"/>
            <a:ext cx="3581400" cy="2400300"/>
          </a:xfrm>
          <a:prstGeom prst="rect">
            <a:avLst/>
          </a:prstGeom>
          <a:effectLst>
            <a:outerShdw dir="5400000" dist="0" blurRad="132260">
              <a:srgbClr val="5576B3">
                <a:alpha val="70000"/>
              </a:srgbClr>
            </a:outerShdw>
          </a:effectLst>
        </p:spPr>
      </p:pic>
      <p:sp>
        <p:nvSpPr>
          <p:cNvPr name="TextBox 10" id="10"/>
          <p:cNvSpPr txBox="true"/>
          <p:nvPr/>
        </p:nvSpPr>
        <p:spPr>
          <a:xfrm rot="0">
            <a:off x="20548600" y="6388100"/>
            <a:ext cx="3111500" cy="5207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F1F6FF">
                    <a:alpha val="50196"/>
                  </a:srgbClr>
                </a:solidFill>
                <a:latin typeface="Pretendard Regular"/>
                <a:ea typeface="Pretendard Regular"/>
                <a:cs typeface="Pretendard Regular"/>
              </a:rPr>
              <a:t>이변량 분석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0243800" y="7531100"/>
            <a:ext cx="3581400" cy="2362200"/>
          </a:xfrm>
          <a:prstGeom prst="rect">
            <a:avLst/>
          </a:prstGeom>
          <a:effectLst>
            <a:outerShdw dir="5400000" dist="0" blurRad="129795">
              <a:srgbClr val="718FC8">
                <a:alpha val="60000"/>
              </a:srgbClr>
            </a:outerShdw>
          </a:effectLst>
        </p:spPr>
      </p:pic>
      <p:sp>
        <p:nvSpPr>
          <p:cNvPr name="TextBox 12" id="12"/>
          <p:cNvSpPr txBox="true"/>
          <p:nvPr/>
        </p:nvSpPr>
        <p:spPr>
          <a:xfrm rot="0">
            <a:off x="20574000" y="8255000"/>
            <a:ext cx="2921000" cy="9652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5576B3"/>
                </a:solidFill>
                <a:latin typeface="Pretendard Bold"/>
                <a:ea typeface="Pretendard Bold"/>
                <a:cs typeface="Pretendard Bold"/>
              </a:rPr>
              <a:t>딥러닝 그래프</a:t>
            </a:r>
          </a:p>
          <a:p>
            <a:pPr algn="ctr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5576B3"/>
                </a:solidFill>
                <a:latin typeface="Pretendard Bold"/>
                <a:ea typeface="Pretendard Bold"/>
                <a:cs typeface="Pretendard Bold"/>
              </a:rPr>
              <a:t>성능평가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0" y="0"/>
            <a:ext cx="20548600" cy="13716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264900" y="482600"/>
            <a:ext cx="9283700" cy="35560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676400" y="1803400"/>
            <a:ext cx="5029200" cy="1181100"/>
          </a:xfrm>
          <a:prstGeom prst="rect">
            <a:avLst/>
          </a:prstGeom>
        </p:spPr>
        <p:txBody>
          <a:bodyPr anchor="ctr" rtlCol="false" lIns="0" tIns="84665" rIns="0" bIns="84665"/>
          <a:lstStyle/>
          <a:p>
            <a:pPr algn="l" lvl="0">
              <a:lnSpc>
                <a:spcPct val="99600"/>
              </a:lnSpc>
            </a:pPr>
            <a:r>
              <a:rPr lang="en-US" sz="6666" b="false" i="false" u="none" strike="noStrike">
                <a:solidFill>
                  <a:srgbClr val="5576B3"/>
                </a:solidFill>
                <a:latin typeface="Pretendard ExtraBold"/>
                <a:ea typeface="Pretendard ExtraBold"/>
                <a:cs typeface="Pretendard ExtraBold"/>
              </a:rPr>
              <a:t>Result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76400" y="2870200"/>
            <a:ext cx="4851400" cy="469900"/>
          </a:xfrm>
          <a:prstGeom prst="rect">
            <a:avLst/>
          </a:prstGeom>
        </p:spPr>
        <p:txBody>
          <a:bodyPr anchor="ctr" rtlCol="false" lIns="0" tIns="33866" rIns="0" bIns="33866"/>
          <a:lstStyle/>
          <a:p>
            <a:pPr algn="l" lvl="0">
              <a:lnSpc>
                <a:spcPct val="99600"/>
              </a:lnSpc>
            </a:pPr>
            <a:r>
              <a:rPr lang="en-US" sz="2666" b="false" i="false" u="none" strike="noStrike">
                <a:solidFill>
                  <a:srgbClr val="5576B3">
                    <a:alpha val="80000"/>
                  </a:srgbClr>
                </a:solidFill>
                <a:latin typeface="Pretendard Medium"/>
                <a:ea typeface="Pretendard Medium"/>
                <a:cs typeface="Pretendard Medium"/>
              </a:rPr>
              <a:t>머신러닝 결과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03200" y="3568700"/>
            <a:ext cx="20040600" cy="81661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31800" y="3568700"/>
            <a:ext cx="8585200" cy="72644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431800" y="10883900"/>
            <a:ext cx="8940800" cy="444500"/>
          </a:xfrm>
          <a:prstGeom prst="rect">
            <a:avLst/>
          </a:prstGeom>
        </p:spPr>
        <p:txBody>
          <a:bodyPr anchor="ctr" rtlCol="false" lIns="0" tIns="32172" rIns="0" bIns="32172"/>
          <a:lstStyle/>
          <a:p>
            <a:pPr algn="l" lvl="0">
              <a:lnSpc>
                <a:spcPct val="99600"/>
              </a:lnSpc>
            </a:pPr>
            <a:r>
              <a:rPr lang="en-US" sz="2533" b="false" i="false" u="none" strike="noStrike">
                <a:solidFill>
                  <a:srgbClr val="5576B3"/>
                </a:solidFill>
                <a:latin typeface="Pretendard Bold"/>
                <a:ea typeface="Pretendard Bold"/>
                <a:cs typeface="Pretendard Bold"/>
              </a:rPr>
              <a:t>*age, class, type of customer,Type of Travel 머신러닝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194800" y="6210300"/>
            <a:ext cx="10858500" cy="46609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20510500" y="749300"/>
            <a:ext cx="3911600" cy="330200"/>
          </a:xfrm>
          <a:prstGeom prst="rect">
            <a:avLst/>
          </a:prstGeom>
        </p:spPr>
        <p:txBody>
          <a:bodyPr anchor="ctr" rtlCol="false" lIns="0" tIns="23706" rIns="0" bIns="23706"/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Mini Project01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1628100" y="12268200"/>
            <a:ext cx="2197100" cy="571500"/>
          </a:xfrm>
          <a:prstGeom prst="rect">
            <a:avLst/>
          </a:prstGeom>
        </p:spPr>
        <p:txBody>
          <a:bodyPr anchor="ctr" rtlCol="false" lIns="0" tIns="40639" rIns="0" bIns="40639"/>
          <a:lstStyle/>
          <a:p>
            <a:pPr algn="r" lvl="0">
              <a:lnSpc>
                <a:spcPct val="99600"/>
              </a:lnSpc>
            </a:pPr>
            <a:r>
              <a:rPr lang="en-US" sz="3199" b="false" i="false" u="none" strike="noStrike">
                <a:solidFill>
                  <a:srgbClr val="FFFFFF">
                    <a:alpha val="70196"/>
                  </a:srgbClr>
                </a:solidFill>
                <a:latin typeface="Pretendard Bold"/>
                <a:ea typeface="Pretendard Bold"/>
                <a:cs typeface="Pretendard Bold"/>
              </a:rPr>
              <a:t>AIVLE AIR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8BB0F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015200" y="9334500"/>
            <a:ext cx="3581400" cy="2400300"/>
          </a:xfrm>
          <a:prstGeom prst="rect">
            <a:avLst/>
          </a:prstGeom>
          <a:effectLst>
            <a:outerShdw dir="5400000" dist="0" blurRad="132260">
              <a:srgbClr val="5576B3">
                <a:alpha val="70000"/>
              </a:srgbClr>
            </a:outerShdw>
          </a:effectLst>
        </p:spPr>
      </p:pic>
      <p:sp>
        <p:nvSpPr>
          <p:cNvPr name="TextBox 3" id="3"/>
          <p:cNvSpPr txBox="true"/>
          <p:nvPr/>
        </p:nvSpPr>
        <p:spPr>
          <a:xfrm rot="0">
            <a:off x="20548600" y="10477500"/>
            <a:ext cx="3111500" cy="5207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F1F6FF">
                    <a:alpha val="50196"/>
                  </a:srgbClr>
                </a:solidFill>
                <a:latin typeface="Pretendard Regular"/>
                <a:ea typeface="Pretendard Regular"/>
                <a:cs typeface="Pretendard Regular"/>
              </a:rPr>
              <a:t>결과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015200" y="1905000"/>
            <a:ext cx="3581400" cy="2400300"/>
          </a:xfrm>
          <a:prstGeom prst="rect">
            <a:avLst/>
          </a:prstGeom>
          <a:effectLst>
            <a:outerShdw dir="5400000" dist="0" blurRad="132260">
              <a:srgbClr val="5576B3">
                <a:alpha val="70000"/>
              </a:srgbClr>
            </a:outerShdw>
          </a:effectLst>
        </p:spPr>
      </p:pic>
      <p:sp>
        <p:nvSpPr>
          <p:cNvPr name="TextBox 5" id="5"/>
          <p:cNvSpPr txBox="true"/>
          <p:nvPr/>
        </p:nvSpPr>
        <p:spPr>
          <a:xfrm rot="0">
            <a:off x="20548600" y="2641600"/>
            <a:ext cx="3111500" cy="5207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F1F6FF">
                    <a:alpha val="50196"/>
                  </a:srgbClr>
                </a:solidFill>
                <a:latin typeface="Pretendard Regular"/>
                <a:ea typeface="Pretendard Regular"/>
                <a:cs typeface="Pretendard Regular"/>
              </a:rPr>
              <a:t>가설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015200" y="3810000"/>
            <a:ext cx="3581400" cy="2400300"/>
          </a:xfrm>
          <a:prstGeom prst="rect">
            <a:avLst/>
          </a:prstGeom>
          <a:effectLst>
            <a:outerShdw dir="5400000" dist="0" blurRad="132260">
              <a:srgbClr val="5576B3">
                <a:alpha val="70000"/>
              </a:srgbClr>
            </a:outerShdw>
          </a:effectLst>
        </p:spPr>
      </p:pic>
      <p:sp>
        <p:nvSpPr>
          <p:cNvPr name="TextBox 7" id="7"/>
          <p:cNvSpPr txBox="true"/>
          <p:nvPr/>
        </p:nvSpPr>
        <p:spPr>
          <a:xfrm rot="0">
            <a:off x="20548600" y="4533900"/>
            <a:ext cx="3111500" cy="5207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F1F6FF">
                    <a:alpha val="50196"/>
                  </a:srgbClr>
                </a:solidFill>
                <a:latin typeface="Pretendard Regular"/>
                <a:ea typeface="Pretendard Regular"/>
                <a:cs typeface="Pretendard Regular"/>
              </a:rPr>
              <a:t>단변량 분석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015200" y="5689600"/>
            <a:ext cx="3581400" cy="2400300"/>
          </a:xfrm>
          <a:prstGeom prst="rect">
            <a:avLst/>
          </a:prstGeom>
          <a:effectLst>
            <a:outerShdw dir="5400000" dist="0" blurRad="132260">
              <a:srgbClr val="5576B3">
                <a:alpha val="70000"/>
              </a:srgbClr>
            </a:outerShdw>
          </a:effectLst>
        </p:spPr>
      </p:pic>
      <p:sp>
        <p:nvSpPr>
          <p:cNvPr name="TextBox 9" id="9"/>
          <p:cNvSpPr txBox="true"/>
          <p:nvPr/>
        </p:nvSpPr>
        <p:spPr>
          <a:xfrm rot="0">
            <a:off x="20548600" y="6388100"/>
            <a:ext cx="3111500" cy="5207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F1F6FF">
                    <a:alpha val="50196"/>
                  </a:srgbClr>
                </a:solidFill>
                <a:latin typeface="Pretendard Regular"/>
                <a:ea typeface="Pretendard Regular"/>
                <a:cs typeface="Pretendard Regular"/>
              </a:rPr>
              <a:t>이변량 분석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243800" y="7531100"/>
            <a:ext cx="3581400" cy="2362200"/>
          </a:xfrm>
          <a:prstGeom prst="rect">
            <a:avLst/>
          </a:prstGeom>
          <a:effectLst>
            <a:outerShdw dir="5400000" dist="0" blurRad="129795">
              <a:srgbClr val="718FC8">
                <a:alpha val="60000"/>
              </a:srgbClr>
            </a:outerShdw>
          </a:effectLst>
        </p:spPr>
      </p:pic>
      <p:sp>
        <p:nvSpPr>
          <p:cNvPr name="TextBox 11" id="11"/>
          <p:cNvSpPr txBox="true"/>
          <p:nvPr/>
        </p:nvSpPr>
        <p:spPr>
          <a:xfrm rot="0">
            <a:off x="20574000" y="8255000"/>
            <a:ext cx="2921000" cy="9652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5576B3"/>
                </a:solidFill>
                <a:latin typeface="Pretendard Bold"/>
                <a:ea typeface="Pretendard Bold"/>
                <a:cs typeface="Pretendard Bold"/>
              </a:rPr>
              <a:t>딥러닝 그래프</a:t>
            </a:r>
          </a:p>
          <a:p>
            <a:pPr algn="ctr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5576B3"/>
                </a:solidFill>
                <a:latin typeface="Pretendard Bold"/>
                <a:ea typeface="Pretendard Bold"/>
                <a:cs typeface="Pretendard Bold"/>
              </a:rPr>
              <a:t>성능평가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0" y="0"/>
            <a:ext cx="20548600" cy="13716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264900" y="482600"/>
            <a:ext cx="9283700" cy="35560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676400" y="1803400"/>
            <a:ext cx="8229600" cy="1181100"/>
          </a:xfrm>
          <a:prstGeom prst="rect">
            <a:avLst/>
          </a:prstGeom>
        </p:spPr>
        <p:txBody>
          <a:bodyPr anchor="ctr" rtlCol="false" lIns="0" tIns="84665" rIns="0" bIns="84665"/>
          <a:lstStyle/>
          <a:p>
            <a:pPr algn="l" lvl="0">
              <a:lnSpc>
                <a:spcPct val="99600"/>
              </a:lnSpc>
            </a:pPr>
            <a:r>
              <a:rPr lang="en-US" sz="6666" b="false" i="false" u="none" strike="noStrike">
                <a:solidFill>
                  <a:srgbClr val="5576B3"/>
                </a:solidFill>
                <a:latin typeface="Pretendard ExtraBold"/>
                <a:ea typeface="Pretendard ExtraBold"/>
                <a:cs typeface="Pretendard ExtraBold"/>
              </a:rPr>
              <a:t>Result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20700" y="3632200"/>
            <a:ext cx="8851900" cy="93091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676400" y="2870200"/>
            <a:ext cx="4851400" cy="469900"/>
          </a:xfrm>
          <a:prstGeom prst="rect">
            <a:avLst/>
          </a:prstGeom>
        </p:spPr>
        <p:txBody>
          <a:bodyPr anchor="ctr" rtlCol="false" lIns="0" tIns="33866" rIns="0" bIns="33866"/>
          <a:lstStyle/>
          <a:p>
            <a:pPr algn="l" lvl="0">
              <a:lnSpc>
                <a:spcPct val="99600"/>
              </a:lnSpc>
            </a:pPr>
            <a:r>
              <a:rPr lang="en-US" sz="2666" b="false" i="false" u="none" strike="noStrike">
                <a:solidFill>
                  <a:srgbClr val="5576B3">
                    <a:alpha val="80000"/>
                  </a:srgbClr>
                </a:solidFill>
                <a:latin typeface="Pretendard Medium"/>
                <a:ea typeface="Pretendard Medium"/>
                <a:cs typeface="Pretendard Medium"/>
              </a:rPr>
              <a:t>딥러닝 결과 &gt; 파인튜닝 딥러닝 결과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544300" y="3632200"/>
            <a:ext cx="8826500" cy="9321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575800" y="6311900"/>
            <a:ext cx="1752600" cy="2743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645900" y="3733800"/>
            <a:ext cx="8750300" cy="58547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35000" y="3733800"/>
            <a:ext cx="8610600" cy="59436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141200" y="9715500"/>
            <a:ext cx="7531100" cy="32258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635000" y="9791700"/>
            <a:ext cx="8737600" cy="30480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20510500" y="749300"/>
            <a:ext cx="3911600" cy="330200"/>
          </a:xfrm>
          <a:prstGeom prst="rect">
            <a:avLst/>
          </a:prstGeom>
        </p:spPr>
        <p:txBody>
          <a:bodyPr anchor="ctr" rtlCol="false" lIns="0" tIns="23706" rIns="0" bIns="23706"/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Mini Project01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1628100" y="12268200"/>
            <a:ext cx="2197100" cy="571500"/>
          </a:xfrm>
          <a:prstGeom prst="rect">
            <a:avLst/>
          </a:prstGeom>
        </p:spPr>
        <p:txBody>
          <a:bodyPr anchor="ctr" rtlCol="false" lIns="0" tIns="40639" rIns="0" bIns="40639"/>
          <a:lstStyle/>
          <a:p>
            <a:pPr algn="r" lvl="0">
              <a:lnSpc>
                <a:spcPct val="99600"/>
              </a:lnSpc>
            </a:pPr>
            <a:r>
              <a:rPr lang="en-US" sz="3199" b="false" i="false" u="none" strike="noStrike">
                <a:solidFill>
                  <a:srgbClr val="FFFFFF">
                    <a:alpha val="70196"/>
                  </a:srgbClr>
                </a:solidFill>
                <a:latin typeface="Pretendard Bold"/>
                <a:ea typeface="Pretendard Bold"/>
                <a:cs typeface="Pretendard Bold"/>
              </a:rPr>
              <a:t>AIVLE AIR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5">
            <a:alphaModFix amt="70000"/>
          </a:blip>
          <a:stretch>
            <a:fillRect/>
          </a:stretch>
        </p:blipFill>
        <p:spPr>
          <a:xfrm rot="2700000">
            <a:off x="21247100" y="12268200"/>
            <a:ext cx="558800" cy="558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8BB0F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015200" y="1905000"/>
            <a:ext cx="3581400" cy="2400300"/>
          </a:xfrm>
          <a:prstGeom prst="rect">
            <a:avLst/>
          </a:prstGeom>
          <a:effectLst>
            <a:outerShdw dir="5400000" dist="0" blurRad="132260">
              <a:srgbClr val="5576B3">
                <a:alpha val="70000"/>
              </a:srgbClr>
            </a:outerShdw>
          </a:effectLst>
        </p:spPr>
      </p:pic>
      <p:sp>
        <p:nvSpPr>
          <p:cNvPr name="TextBox 3" id="3"/>
          <p:cNvSpPr txBox="true"/>
          <p:nvPr/>
        </p:nvSpPr>
        <p:spPr>
          <a:xfrm rot="0">
            <a:off x="20548600" y="2628900"/>
            <a:ext cx="3111500" cy="546100"/>
          </a:xfrm>
          <a:prstGeom prst="rect">
            <a:avLst/>
          </a:prstGeom>
        </p:spPr>
        <p:txBody>
          <a:bodyPr anchor="ctr" rtlCol="false" lIns="0" tIns="38946" rIns="0" bIns="38946"/>
          <a:lstStyle/>
          <a:p>
            <a:pPr algn="ctr" lvl="0">
              <a:lnSpc>
                <a:spcPct val="99600"/>
              </a:lnSpc>
            </a:pPr>
            <a:r>
              <a:rPr lang="en-US" sz="3066" b="false" i="false" u="none" strike="noStrike">
                <a:solidFill>
                  <a:srgbClr val="F1F6FF">
                    <a:alpha val="50196"/>
                  </a:srgbClr>
                </a:solidFill>
                <a:latin typeface="Pretendard Regular"/>
                <a:ea typeface="Pretendard Regular"/>
                <a:cs typeface="Pretendard Regular"/>
              </a:rPr>
              <a:t>가설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015200" y="3810000"/>
            <a:ext cx="3581400" cy="2400300"/>
          </a:xfrm>
          <a:prstGeom prst="rect">
            <a:avLst/>
          </a:prstGeom>
          <a:effectLst>
            <a:outerShdw dir="5400000" dist="0" blurRad="132260">
              <a:srgbClr val="5576B3">
                <a:alpha val="70000"/>
              </a:srgbClr>
            </a:outerShdw>
          </a:effectLst>
        </p:spPr>
      </p:pic>
      <p:sp>
        <p:nvSpPr>
          <p:cNvPr name="TextBox 5" id="5"/>
          <p:cNvSpPr txBox="true"/>
          <p:nvPr/>
        </p:nvSpPr>
        <p:spPr>
          <a:xfrm rot="0">
            <a:off x="20548600" y="4533900"/>
            <a:ext cx="3111500" cy="546100"/>
          </a:xfrm>
          <a:prstGeom prst="rect">
            <a:avLst/>
          </a:prstGeom>
        </p:spPr>
        <p:txBody>
          <a:bodyPr anchor="ctr" rtlCol="false" lIns="0" tIns="38946" rIns="0" bIns="38946"/>
          <a:lstStyle/>
          <a:p>
            <a:pPr algn="ctr" lvl="0">
              <a:lnSpc>
                <a:spcPct val="99600"/>
              </a:lnSpc>
            </a:pPr>
            <a:r>
              <a:rPr lang="en-US" sz="3066" b="false" i="false" u="none" strike="noStrike">
                <a:solidFill>
                  <a:srgbClr val="F1F6FF">
                    <a:alpha val="50196"/>
                  </a:srgbClr>
                </a:solidFill>
                <a:latin typeface="Pretendard Regular"/>
                <a:ea typeface="Pretendard Regular"/>
                <a:cs typeface="Pretendard Regular"/>
              </a:rPr>
              <a:t>단변량 분석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015200" y="5689600"/>
            <a:ext cx="3581400" cy="2400300"/>
          </a:xfrm>
          <a:prstGeom prst="rect">
            <a:avLst/>
          </a:prstGeom>
          <a:effectLst>
            <a:outerShdw dir="5400000" dist="0" blurRad="132260">
              <a:srgbClr val="5576B3">
                <a:alpha val="70000"/>
              </a:srgbClr>
            </a:outerShdw>
          </a:effectLst>
        </p:spPr>
      </p:pic>
      <p:sp>
        <p:nvSpPr>
          <p:cNvPr name="TextBox 7" id="7"/>
          <p:cNvSpPr txBox="true"/>
          <p:nvPr/>
        </p:nvSpPr>
        <p:spPr>
          <a:xfrm rot="0">
            <a:off x="20548600" y="6375400"/>
            <a:ext cx="3111500" cy="546100"/>
          </a:xfrm>
          <a:prstGeom prst="rect">
            <a:avLst/>
          </a:prstGeom>
        </p:spPr>
        <p:txBody>
          <a:bodyPr anchor="ctr" rtlCol="false" lIns="0" tIns="38946" rIns="0" bIns="38946"/>
          <a:lstStyle/>
          <a:p>
            <a:pPr algn="ctr" lvl="0">
              <a:lnSpc>
                <a:spcPct val="99600"/>
              </a:lnSpc>
            </a:pPr>
            <a:r>
              <a:rPr lang="en-US" sz="3066" b="false" i="false" u="none" strike="noStrike">
                <a:solidFill>
                  <a:srgbClr val="F1F6FF">
                    <a:alpha val="50196"/>
                  </a:srgbClr>
                </a:solidFill>
                <a:latin typeface="Pretendard Regular"/>
                <a:ea typeface="Pretendard Regular"/>
                <a:cs typeface="Pretendard Regular"/>
              </a:rPr>
              <a:t>이변량 분석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015200" y="7543800"/>
            <a:ext cx="3581400" cy="2400300"/>
          </a:xfrm>
          <a:prstGeom prst="rect">
            <a:avLst/>
          </a:prstGeom>
          <a:effectLst>
            <a:outerShdw dir="5400000" dist="0" blurRad="132260">
              <a:srgbClr val="5576B3">
                <a:alpha val="70000"/>
              </a:srgbClr>
            </a:outerShdw>
          </a:effectLst>
        </p:spPr>
      </p:pic>
      <p:sp>
        <p:nvSpPr>
          <p:cNvPr name="TextBox 9" id="9"/>
          <p:cNvSpPr txBox="true"/>
          <p:nvPr/>
        </p:nvSpPr>
        <p:spPr>
          <a:xfrm rot="0">
            <a:off x="20561300" y="8026400"/>
            <a:ext cx="3111500" cy="1016000"/>
          </a:xfrm>
          <a:prstGeom prst="rect">
            <a:avLst/>
          </a:prstGeom>
        </p:spPr>
        <p:txBody>
          <a:bodyPr anchor="ctr" rtlCol="false" lIns="0" tIns="38946" rIns="0" bIns="38946"/>
          <a:lstStyle/>
          <a:p>
            <a:pPr algn="ctr" lvl="0">
              <a:lnSpc>
                <a:spcPct val="99600"/>
              </a:lnSpc>
            </a:pPr>
            <a:r>
              <a:rPr lang="en-US" sz="3066" b="false" i="false" u="none" strike="noStrike">
                <a:solidFill>
                  <a:srgbClr val="F1F6FF">
                    <a:alpha val="50196"/>
                  </a:srgbClr>
                </a:solidFill>
                <a:latin typeface="Pretendard Regular"/>
                <a:ea typeface="Pretendard Regular"/>
                <a:cs typeface="Pretendard Regular"/>
              </a:rPr>
              <a:t>딥러닝 그래프
성능평가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243800" y="9499600"/>
            <a:ext cx="3581400" cy="2362200"/>
          </a:xfrm>
          <a:prstGeom prst="rect">
            <a:avLst/>
          </a:prstGeom>
          <a:effectLst>
            <a:outerShdw dir="5400000" dist="0" blurRad="129795">
              <a:srgbClr val="718FC8">
                <a:alpha val="60000"/>
              </a:srgbClr>
            </a:outerShdw>
          </a:effectLst>
        </p:spPr>
      </p:pic>
      <p:sp>
        <p:nvSpPr>
          <p:cNvPr name="TextBox 11" id="11"/>
          <p:cNvSpPr txBox="true"/>
          <p:nvPr/>
        </p:nvSpPr>
        <p:spPr>
          <a:xfrm rot="0">
            <a:off x="20561300" y="10426700"/>
            <a:ext cx="2933700" cy="546100"/>
          </a:xfrm>
          <a:prstGeom prst="rect">
            <a:avLst/>
          </a:prstGeom>
        </p:spPr>
        <p:txBody>
          <a:bodyPr anchor="ctr" rtlCol="false" lIns="0" tIns="38946" rIns="0" bIns="38946"/>
          <a:lstStyle/>
          <a:p>
            <a:pPr algn="ctr" lvl="0">
              <a:lnSpc>
                <a:spcPct val="99600"/>
              </a:lnSpc>
            </a:pPr>
            <a:r>
              <a:rPr lang="en-US" sz="3066" b="false" i="false" u="none" strike="noStrike">
                <a:solidFill>
                  <a:srgbClr val="5576B3"/>
                </a:solidFill>
                <a:latin typeface="Pretendard Bold"/>
                <a:ea typeface="Pretendard Bold"/>
                <a:cs typeface="Pretendard Bold"/>
              </a:rPr>
              <a:t>결과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0" y="0"/>
            <a:ext cx="20548600" cy="137160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676400" y="1790700"/>
            <a:ext cx="5029200" cy="1206500"/>
          </a:xfrm>
          <a:prstGeom prst="rect">
            <a:avLst/>
          </a:prstGeom>
        </p:spPr>
        <p:txBody>
          <a:bodyPr anchor="ctr" rtlCol="false" lIns="0" tIns="86358" rIns="0" bIns="86358"/>
          <a:lstStyle/>
          <a:p>
            <a:pPr algn="l" lvl="0">
              <a:lnSpc>
                <a:spcPct val="99600"/>
              </a:lnSpc>
            </a:pPr>
            <a:r>
              <a:rPr lang="en-US" sz="6798" b="false" i="false" u="none" strike="noStrike">
                <a:solidFill>
                  <a:srgbClr val="5576B3"/>
                </a:solidFill>
                <a:latin typeface="Pretendard ExtraBold"/>
                <a:ea typeface="Pretendard ExtraBold"/>
                <a:cs typeface="Pretendard ExtraBold"/>
              </a:rPr>
              <a:t>Result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76400" y="2857500"/>
            <a:ext cx="4851400" cy="495300"/>
          </a:xfrm>
          <a:prstGeom prst="rect">
            <a:avLst/>
          </a:prstGeom>
        </p:spPr>
        <p:txBody>
          <a:bodyPr anchor="ctr" rtlCol="false" lIns="0" tIns="35559" rIns="0" bIns="35559"/>
          <a:lstStyle/>
          <a:p>
            <a:pPr algn="l" lvl="0">
              <a:lnSpc>
                <a:spcPct val="99600"/>
              </a:lnSpc>
            </a:pPr>
            <a:r>
              <a:rPr lang="en-US" sz="2799" b="false" i="false" u="none" strike="noStrike">
                <a:solidFill>
                  <a:srgbClr val="5576B3">
                    <a:alpha val="80000"/>
                  </a:srgbClr>
                </a:solidFill>
                <a:latin typeface="Pretendard Medium"/>
                <a:ea typeface="Pretendard Medium"/>
                <a:cs typeface="Pretendard Medium"/>
              </a:rPr>
              <a:t>결과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 rot="0">
            <a:off x="5981700" y="5308600"/>
            <a:ext cx="11607800" cy="939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alphaModFix amt="85000"/>
          </a:blip>
          <a:stretch>
            <a:fillRect/>
          </a:stretch>
        </p:blipFill>
        <p:spPr>
          <a:xfrm rot="0">
            <a:off x="2730500" y="5308600"/>
            <a:ext cx="2819400" cy="9398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6731000" y="5588000"/>
            <a:ext cx="10363200" cy="406400"/>
          </a:xfrm>
          <a:prstGeom prst="rect">
            <a:avLst/>
          </a:prstGeom>
        </p:spPr>
        <p:txBody>
          <a:bodyPr anchor="ctr" rtlCol="false" lIns="0" tIns="28786" rIns="0" bIns="28786"/>
          <a:lstStyle/>
          <a:p>
            <a:pPr algn="l" lvl="0">
              <a:lnSpc>
                <a:spcPct val="99600"/>
              </a:lnSpc>
            </a:pPr>
            <a:r>
              <a:rPr lang="en-US" sz="2266" b="false" i="false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충성고객들이 기존에 만족해하던 서비스들을 유지하거나 향상시킨다.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048000" y="5537200"/>
            <a:ext cx="2997200" cy="495300"/>
          </a:xfrm>
          <a:prstGeom prst="rect">
            <a:avLst/>
          </a:prstGeom>
        </p:spPr>
        <p:txBody>
          <a:bodyPr anchor="ctr" rtlCol="false" lIns="0" tIns="35559" rIns="0" bIns="35559"/>
          <a:lstStyle/>
          <a:p>
            <a:pPr algn="l" lvl="0">
              <a:lnSpc>
                <a:spcPct val="99600"/>
              </a:lnSpc>
            </a:pPr>
            <a:r>
              <a:rPr lang="en-US" sz="2799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만족도를 극대화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0">
            <a:alphaModFix amt="80000"/>
          </a:blip>
          <a:stretch>
            <a:fillRect/>
          </a:stretch>
        </p:blipFill>
        <p:spPr>
          <a:xfrm rot="0">
            <a:off x="5981700" y="6553200"/>
            <a:ext cx="11607800" cy="9398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>
            <a:alphaModFix amt="85000"/>
          </a:blip>
          <a:stretch>
            <a:fillRect/>
          </a:stretch>
        </p:blipFill>
        <p:spPr>
          <a:xfrm rot="0">
            <a:off x="2730500" y="6553200"/>
            <a:ext cx="2819400" cy="9398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6731000" y="6819900"/>
            <a:ext cx="10363200" cy="406400"/>
          </a:xfrm>
          <a:prstGeom prst="rect">
            <a:avLst/>
          </a:prstGeom>
        </p:spPr>
        <p:txBody>
          <a:bodyPr anchor="ctr" rtlCol="false" lIns="0" tIns="28786" rIns="0" bIns="28786"/>
          <a:lstStyle/>
          <a:p>
            <a:pPr algn="l" lvl="0">
              <a:lnSpc>
                <a:spcPct val="99600"/>
              </a:lnSpc>
            </a:pPr>
            <a:r>
              <a:rPr lang="en-US" sz="2266" b="false" i="false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충성고객이 아닌 고객들의 불만족한 상황들을 개선한다.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073400" y="6781800"/>
            <a:ext cx="2590800" cy="495300"/>
          </a:xfrm>
          <a:prstGeom prst="rect">
            <a:avLst/>
          </a:prstGeom>
        </p:spPr>
        <p:txBody>
          <a:bodyPr anchor="ctr" rtlCol="false" lIns="0" tIns="35559" rIns="0" bIns="35559"/>
          <a:lstStyle/>
          <a:p>
            <a:pPr algn="l" lvl="0">
              <a:lnSpc>
                <a:spcPct val="99600"/>
              </a:lnSpc>
            </a:pPr>
            <a:r>
              <a:rPr lang="en-US" sz="2799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불만족을 최소화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692400" y="7797800"/>
            <a:ext cx="5715000" cy="48641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1264900" y="482600"/>
            <a:ext cx="9283700" cy="35560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9182100" y="8470900"/>
            <a:ext cx="10401300" cy="3352800"/>
          </a:xfrm>
          <a:prstGeom prst="rect">
            <a:avLst/>
          </a:prstGeom>
        </p:spPr>
        <p:txBody>
          <a:bodyPr anchor="ctr" rtlCol="false" lIns="0" tIns="38946" rIns="0" bIns="38946"/>
          <a:lstStyle/>
          <a:p>
            <a:pPr algn="l" lvl="0">
              <a:lnSpc>
                <a:spcPct val="99600"/>
              </a:lnSpc>
            </a:pPr>
            <a:r>
              <a:rPr lang="en-US" sz="3066" b="false" i="false" u="none" strike="noStrike">
                <a:solidFill>
                  <a:srgbClr val="346AD0"/>
                </a:solidFill>
                <a:latin typeface="Pretendard SemiBold"/>
                <a:ea typeface="Pretendard SemiBold"/>
                <a:cs typeface="Pretendard SemiBold"/>
              </a:rPr>
              <a:t>예약-보딩-와이파이를 하나로 묶은 '스마트 디지털 서비스' 통합
청결과 좌석 편안함을 동시에 잡은 '안심 쾌적 기내 환경' 조성
고객 취항을 반영한 '맞춤형 콘텐츠 및 엔터테인먼트' 경험 강화
수하물부터 기내 서비스까지 믿고 맡기는 '운영 프로세스 신뢰' 확보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0510500" y="736600"/>
            <a:ext cx="3911600" cy="355600"/>
          </a:xfrm>
          <a:prstGeom prst="rect">
            <a:avLst/>
          </a:prstGeom>
        </p:spPr>
        <p:txBody>
          <a:bodyPr anchor="ctr" rtlCol="false" lIns="0" tIns="25399" rIns="0" bIns="25399"/>
          <a:lstStyle/>
          <a:p>
            <a:pPr algn="ctr" lvl="0">
              <a:lnSpc>
                <a:spcPct val="99600"/>
              </a:lnSpc>
            </a:pPr>
            <a:r>
              <a:rPr lang="en-US" sz="1999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Mini Project01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1628100" y="12268200"/>
            <a:ext cx="2197100" cy="571500"/>
          </a:xfrm>
          <a:prstGeom prst="rect">
            <a:avLst/>
          </a:prstGeom>
        </p:spPr>
        <p:txBody>
          <a:bodyPr anchor="ctr" rtlCol="false" lIns="0" tIns="40639" rIns="0" bIns="40639"/>
          <a:lstStyle/>
          <a:p>
            <a:pPr algn="r" lvl="0">
              <a:lnSpc>
                <a:spcPct val="99600"/>
              </a:lnSpc>
            </a:pPr>
            <a:r>
              <a:rPr lang="en-US" sz="3199" b="false" i="false" u="none" strike="noStrike">
                <a:solidFill>
                  <a:srgbClr val="FFFFFF">
                    <a:alpha val="70196"/>
                  </a:srgbClr>
                </a:solidFill>
                <a:latin typeface="Pretendard Bold"/>
                <a:ea typeface="Pretendard Bold"/>
                <a:cs typeface="Pretendard Bold"/>
              </a:rPr>
              <a:t>AIVLE AIR</a:t>
            </a:r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4">
            <a:alphaModFix amt="70000"/>
          </a:blip>
          <a:stretch>
            <a:fillRect/>
          </a:stretch>
        </p:blipFill>
        <p:spPr>
          <a:xfrm rot="2700000">
            <a:off x="21247100" y="12268200"/>
            <a:ext cx="558800" cy="558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215CD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rot="0">
            <a:off x="6007100" y="8928100"/>
            <a:ext cx="12382500" cy="1968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43000"/>
          </a:blip>
          <a:stretch>
            <a:fillRect/>
          </a:stretch>
        </p:blipFill>
        <p:spPr>
          <a:xfrm rot="0">
            <a:off x="6451600" y="9118600"/>
            <a:ext cx="11480800" cy="165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705600" y="4927600"/>
            <a:ext cx="10960100" cy="4241800"/>
          </a:xfrm>
          <a:prstGeom prst="rect">
            <a:avLst/>
          </a:prstGeom>
          <a:effectLst>
            <a:outerShdw dir="4500000" dist="113972" blurRad="84748">
              <a:srgbClr val="000000">
                <a:alpha val="6000"/>
              </a:srgbClr>
            </a:outerShdw>
          </a:effectLst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480000">
            <a:off x="15760700" y="1155700"/>
            <a:ext cx="13906500" cy="6197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360000">
            <a:off x="-6019800" y="9156700"/>
            <a:ext cx="12369800" cy="5499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